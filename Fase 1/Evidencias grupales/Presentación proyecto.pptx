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Q1qYgmNdPFTRzbOqCQLc09+xF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Portada — nombre del proyecto y los 3 perfiles que lo componen.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Dos caras del mismo problema: quien contrata y quien quiere postular, sin canal común.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LicitaWatch como plataforma privada y autosostenible, sin depender de portales externos.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Leer el objetivo general una sola vez, sin detenerse en cada cláusula.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Recorrer la grilla rápido, agrupando de a dos: identidad y publicación; búsqueda y ventas; pagos y administración.</a:t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Los 3 perfiles se autentican vía JWT y RBAC; cada uno ve solo lo habilitado para su rol.</a:t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Los planes limitan volumen y soporte, no las funciones esenciales: registro, búsqueda y postulación básica siempre están disponibles.</a:t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El Administrador supervisa ambos flujos — licitaciones y ventas/pagos — desde el panel de administración.</a:t>
            </a:r>
            <a:endParaRPr/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LicitAsist usa el Free Tier de Groq: sujeto a límites de uso, no es un servicio gratuito ilimitado.</a:t>
            </a:r>
            <a:endParaRPr/>
          </a:p>
        </p:txBody>
      </p:sp>
      <p:sp>
        <p:nvSpPr>
          <p:cNvPr id="240" name="Google Shape;2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Sin bus de mensajería: los servicios se llaman directo por REST cuando ocurre un evento relevante.</a:t>
            </a:r>
            <a:endParaRPr/>
          </a:p>
        </p:txBody>
      </p:sp>
      <p:sp>
        <p:nvSpPr>
          <p:cNvPr id="269" name="Google Shape;2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Un solo protocolo entre servicios: REST síncrono. El Gateway concentra la seguridad antes de enrutar a cada API.</a:t>
            </a:r>
            <a:endParaRPr/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h2b446a4234812dac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h2b446a4234812dac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h2b446a4234812dac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usuario es la tabla central; licitador/pyme/administrador son extensiones 1:1 según el rol.</a:t>
            </a:r>
            <a:endParaRPr/>
          </a:p>
        </p:txBody>
      </p:sp>
      <p:sp>
        <p:nvSpPr>
          <p:cNvPr id="369" name="Google Shape;3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Este es el corazón del ciclo de licitación: publicar (licitacion) y postular (postulacion).</a:t>
            </a:r>
            <a:endParaRPr/>
          </a:p>
        </p:txBody>
      </p:sp>
      <p:sp>
        <p:nvSpPr>
          <p:cNvPr id="435" name="Google Shape;43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Cadena lineal: plan → suscripción → venta → pago, cada tabla referenciando a la anterior.</a:t>
            </a:r>
            <a:endParaRPr/>
          </a:p>
        </p:txBody>
      </p:sp>
      <p:sp>
        <p:nvSpPr>
          <p:cNvPr id="477" name="Google Shape;4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API Asistente no tiene diapositiva propia de modelo de datos: no guarda información, solo orquesta a las otras cuatro APIs.</a:t>
            </a:r>
            <a:endParaRPr/>
          </a:p>
        </p:txBody>
      </p:sp>
      <p:sp>
        <p:nvSpPr>
          <p:cNvPr id="533" name="Google Shape;53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El MVP cubre el ciclo completo de licitación y venta; queda fuera todo lo que no es indispensable para demostrarlo.</a:t>
            </a:r>
            <a:endParaRPr/>
          </a:p>
        </p:txBody>
      </p:sp>
      <p:sp>
        <p:nvSpPr>
          <p:cNvPr id="567" name="Google Shape;56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≈40 seg. Recorrer la línea de sprints señalando solo el hito clave (S7: integración de pagos) sin leer los ocho nombres en detalle.</a:t>
            </a:r>
            <a:endParaRPr/>
          </a:p>
        </p:txBody>
      </p:sp>
      <p:sp>
        <p:nvSpPr>
          <p:cNvPr id="595" name="Google Shape;59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Cierre y espacio para preguntas.</a:t>
            </a:r>
            <a:endParaRPr/>
          </a:p>
        </p:txBody>
      </p:sp>
      <p:sp>
        <p:nvSpPr>
          <p:cNvPr id="638" name="Google Shape;63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1417320"/>
            <a:ext cx="868680" cy="86868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gol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130" y="16344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 txBox="1"/>
          <p:nvPr/>
        </p:nvSpPr>
        <p:spPr>
          <a:xfrm>
            <a:off x="822960" y="24688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PROYECTO DE TÍTULO · INGENIERÍA · 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77240" y="2788920"/>
            <a:ext cx="9601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LicitaWatch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Plataforma privada de gestión de licitaciones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4572000"/>
            <a:ext cx="1764792" cy="457200"/>
          </a:xfrm>
          <a:prstGeom prst="roundRect">
            <a:avLst>
              <a:gd fmla="val 50000" name="adj"/>
            </a:avLst>
          </a:prstGeom>
          <a:solidFill>
            <a:srgbClr val="1B2E52"/>
          </a:solidFill>
          <a:ln cap="flat" cmpd="sng" w="12700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822960" y="4572000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Licitadores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788920" y="4572000"/>
            <a:ext cx="1051560" cy="457200"/>
          </a:xfrm>
          <a:prstGeom prst="roundRect">
            <a:avLst>
              <a:gd fmla="val 50000" name="adj"/>
            </a:avLst>
          </a:prstGeom>
          <a:solidFill>
            <a:srgbClr val="1B2E52"/>
          </a:solidFill>
          <a:ln cap="flat" cmpd="sng" w="12700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2788920" y="45720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041648" y="4572000"/>
            <a:ext cx="2121408" cy="457200"/>
          </a:xfrm>
          <a:prstGeom prst="roundRect">
            <a:avLst>
              <a:gd fmla="val 50000" name="adj"/>
            </a:avLst>
          </a:prstGeom>
          <a:solidFill>
            <a:srgbClr val="1B2E52"/>
          </a:solidFill>
          <a:ln cap="flat" cmpd="sng" w="12700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4041648" y="4572000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CLIENTE Y PROBLEMA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 mercado privado, sin canal propio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alert_white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/>
        </p:nvSpPr>
        <p:spPr>
          <a:xfrm>
            <a:off x="1280160" y="160020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Las licitaciones privadas se gestionan hoy con planillas, correos y contactos — sin una plataforma propia que las centralice.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2514600"/>
            <a:ext cx="5349240" cy="292608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68680" y="28346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gold.png"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354" y="2966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1554480" y="2880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868680" y="35661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Empresas que necesitan contratar obras, servicios o insumos no tienen un canal controlado para publicar sus procesos ni recibir postulantes calificados.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172200" y="2514600"/>
            <a:ext cx="5349240" cy="292608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92240" y="28346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s_gold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3914" y="2966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 txBox="1"/>
          <p:nvPr/>
        </p:nvSpPr>
        <p:spPr>
          <a:xfrm>
            <a:off x="7178040" y="2880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492240" y="35661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Pymes que ofrecen esos servicios no tienen un lugar centralizado donde buscar, comparar y postular — pierden oportunidades por falta de visibilidad.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LicitaWatch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Una plataforma privada donde nuestra empresa controla la tecnología y el negocio.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2148840"/>
            <a:ext cx="3584448" cy="3291840"/>
          </a:xfrm>
          <a:prstGeom prst="roundRect">
            <a:avLst>
              <a:gd fmla="val 277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975104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white.pn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984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 txBox="1"/>
          <p:nvPr/>
        </p:nvSpPr>
        <p:spPr>
          <a:xfrm>
            <a:off x="777240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Licitadores publican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822960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Publican y administran sus licitaciones de principio a fin.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334256" y="2148840"/>
            <a:ext cx="3584448" cy="3291840"/>
          </a:xfrm>
          <a:prstGeom prst="roundRect">
            <a:avLst>
              <a:gd fmla="val 277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760720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earch_white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/>
        </p:nvSpPr>
        <p:spPr>
          <a:xfrm>
            <a:off x="4562856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 postulan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4608576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Buscan, filtran y postulan a las licitaciones abiertas.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119872" y="2148840"/>
            <a:ext cx="3584448" cy="3291840"/>
          </a:xfrm>
          <a:prstGeom prst="roundRect">
            <a:avLst>
              <a:gd fmla="val 277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546336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g_white.png" id="71" name="Google Shape;7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9216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8348472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Planes propios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8394192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La operación se financia con suscripciones, no con terceros.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Qué buscamos lograr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77240" y="2148840"/>
            <a:ext cx="1463040" cy="14630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rget_gold.png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5146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2606040" y="2011680"/>
            <a:ext cx="90068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2926080" y="2011680"/>
            <a:ext cx="8412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privada, basada en microservicios, que permita a los Licitadores publicar y administrar licitaciones, a las Pymes buscar y postular, y operar el negocio mediante perfiles de usuario, planes de suscripción y una pasarela de pagos integrada — complementado con un asistente de inteligencia artificial que facilite la publicación y la postulación.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Seis frentes de trabajo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1828800"/>
            <a:ext cx="3584448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plus_white.png"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21781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 txBox="1"/>
          <p:nvPr/>
        </p:nvSpPr>
        <p:spPr>
          <a:xfrm>
            <a:off x="777240" y="2697480"/>
            <a:ext cx="3127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Autenticación y perfiles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777240" y="310896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JWT y control de acceso por rol (RBAC).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334256" y="1828800"/>
            <a:ext cx="3584448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62856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filetext_white.png" id="103" name="Google Shape;1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557" y="21781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 txBox="1"/>
          <p:nvPr/>
        </p:nvSpPr>
        <p:spPr>
          <a:xfrm>
            <a:off x="4562856" y="2697480"/>
            <a:ext cx="3127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Publicación de licitaciones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4562856" y="310896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CRUD completo para los Licitadores.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119872" y="1828800"/>
            <a:ext cx="3584448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8348472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earch_white.png" id="108" name="Google Shape;10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9173" y="21781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8348472" y="2697480"/>
            <a:ext cx="3127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Búsqueda y postulación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8348472" y="310896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Las Pymes filtran y postulan.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3858768"/>
            <a:ext cx="3584448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7724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g_white.png" id="113" name="Google Shape;11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941" y="420806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777240" y="4727448"/>
            <a:ext cx="3127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Gestión de ventas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777240" y="5138928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Planes de suscripción y transacciones.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334256" y="3858768"/>
            <a:ext cx="3584448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62856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reditcard_white.png" id="118" name="Google Shape;11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557" y="420806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/>
        </p:nvSpPr>
        <p:spPr>
          <a:xfrm>
            <a:off x="4562856" y="4727448"/>
            <a:ext cx="3127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Pasarela de pago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562856" y="5138928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Cobro de los planes Estándar y Premium.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119872" y="3858768"/>
            <a:ext cx="3584448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348472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ettings_white.png" id="123" name="Google Shape;12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9173" y="420806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/>
        </p:nvSpPr>
        <p:spPr>
          <a:xfrm>
            <a:off x="8348472" y="4727448"/>
            <a:ext cx="3127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Panel de administración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8348472" y="5138928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Usuarios, licitadores, pymes y licitaciones.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PERFILES DEL SISTEMA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Tres perfiles, un solo sistema de identidad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48640" y="1783080"/>
            <a:ext cx="3584448" cy="3931920"/>
          </a:xfrm>
          <a:prstGeom prst="roundRect">
            <a:avLst>
              <a:gd fmla="val 255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04672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gold.pn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318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804672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804672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Publica y administra licitaciones. Define condiciones y plazos, y revisa postulaciones.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804672" y="4206240"/>
            <a:ext cx="3072384" cy="0"/>
          </a:xfrm>
          <a:prstGeom prst="straightConnector1">
            <a:avLst/>
          </a:prstGeom>
          <a:noFill/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6"/>
          <p:cNvSpPr/>
          <p:nvPr/>
        </p:nvSpPr>
        <p:spPr>
          <a:xfrm>
            <a:off x="804672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987552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Publicar licitación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04672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987552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Editar / cerrar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04672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987552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postulantes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334256" y="1783080"/>
            <a:ext cx="3584448" cy="3931920"/>
          </a:xfrm>
          <a:prstGeom prst="roundRect">
            <a:avLst>
              <a:gd fmla="val 255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90288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s_gold.png" id="149" name="Google Shape;1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934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4590288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4590288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Busca, revisa y postula a licitaciones publicadas. Administra su suscripción.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6"/>
          <p:cNvCxnSpPr/>
          <p:nvPr/>
        </p:nvCxnSpPr>
        <p:spPr>
          <a:xfrm>
            <a:off x="4590288" y="4206240"/>
            <a:ext cx="3072384" cy="0"/>
          </a:xfrm>
          <a:prstGeom prst="straightConnector1">
            <a:avLst/>
          </a:prstGeom>
          <a:noFill/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6"/>
          <p:cNvSpPr/>
          <p:nvPr/>
        </p:nvSpPr>
        <p:spPr>
          <a:xfrm>
            <a:off x="4590288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4773168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Buscar y filtrar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90288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4773168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590288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4773168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estado de postulación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119872" y="1783080"/>
            <a:ext cx="3584448" cy="3931920"/>
          </a:xfrm>
          <a:prstGeom prst="roundRect">
            <a:avLst>
              <a:gd fmla="val 255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375904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hield_gold.png" id="161" name="Google Shape;16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8550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/>
        </p:nvSpPr>
        <p:spPr>
          <a:xfrm>
            <a:off x="8375904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8375904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Pertenece a LicitaWatch. Administra usuarios, licitaciones y el funcionamiento general.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6"/>
          <p:cNvCxnSpPr/>
          <p:nvPr/>
        </p:nvCxnSpPr>
        <p:spPr>
          <a:xfrm>
            <a:off x="8375904" y="4206240"/>
            <a:ext cx="3072384" cy="0"/>
          </a:xfrm>
          <a:prstGeom prst="straightConnector1">
            <a:avLst/>
          </a:prstGeom>
          <a:noFill/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6"/>
          <p:cNvSpPr/>
          <p:nvPr/>
        </p:nvSpPr>
        <p:spPr>
          <a:xfrm>
            <a:off x="8375904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8558784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Gestionar usuarios y roles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375904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8558784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Moderar licitaciones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375904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8558784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ventas y suscripciones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NEGOCIO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Ingresos por suscripción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Dos planes financian la operación de la plataforma.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48640" y="1965960"/>
            <a:ext cx="5349240" cy="374904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 cap="flat" cmpd="sng" w="15225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86868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5A78"/>
                </a:solidFill>
                <a:latin typeface="Calibri"/>
                <a:ea typeface="Calibri"/>
                <a:cs typeface="Calibri"/>
                <a:sym typeface="Calibri"/>
              </a:rPr>
              <a:t>ESTÁNDAR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868680" y="26060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Acceso funcional para comenzar a publicar o postular.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868680" y="33375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202" y="339608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 txBox="1"/>
          <p:nvPr/>
        </p:nvSpPr>
        <p:spPr>
          <a:xfrm>
            <a:off x="1280160" y="3337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Publicación / búsqueda con límite mensual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68680" y="37947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188" name="Google Shape;1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202" y="385328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 txBox="1"/>
          <p:nvPr/>
        </p:nvSpPr>
        <p:spPr>
          <a:xfrm>
            <a:off x="1280160" y="37947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Postulaciones limitadas por 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68680" y="42519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191" name="Google Shape;1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202" y="431048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1280160" y="42519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Soporte estándar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172200" y="1965960"/>
            <a:ext cx="5349240" cy="3749040"/>
          </a:xfrm>
          <a:prstGeom prst="roundRect">
            <a:avLst>
              <a:gd fmla="val 2439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649224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6492240" y="26060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Acceso ampliado para mayor volumen de operación.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492240" y="33375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197" name="Google Shape;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762" y="339608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/>
        </p:nvSpPr>
        <p:spPr>
          <a:xfrm>
            <a:off x="6903720" y="3337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Publicaciones y postulaciones ilimitadas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492240" y="37947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00" name="Google Shape;20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762" y="385328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 txBox="1"/>
          <p:nvPr/>
        </p:nvSpPr>
        <p:spPr>
          <a:xfrm>
            <a:off x="6903720" y="37947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 de visibilidad en resultados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492240" y="42519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03" name="Google Shape;2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762" y="431048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 txBox="1"/>
          <p:nvPr/>
        </p:nvSpPr>
        <p:spPr>
          <a:xfrm>
            <a:off x="6903720" y="42519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Soporte prioritario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FLUJO PRINCIPAL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Del registro a la postulación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8"/>
          <p:cNvCxnSpPr/>
          <p:nvPr/>
        </p:nvCxnSpPr>
        <p:spPr>
          <a:xfrm>
            <a:off x="2000250" y="2743200"/>
            <a:ext cx="8161020" cy="0"/>
          </a:xfrm>
          <a:prstGeom prst="straightConnector1">
            <a:avLst/>
          </a:prstGeom>
          <a:noFill/>
          <a:ln cap="flat" cmpd="sng" w="381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8"/>
          <p:cNvSpPr/>
          <p:nvPr/>
        </p:nvSpPr>
        <p:spPr>
          <a:xfrm>
            <a:off x="163449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white.png" id="216" name="Google Shape;2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737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>
            <a:off x="749808" y="3337560"/>
            <a:ext cx="250088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86868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 se registra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86868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Elige un plan y publica su licitación.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35483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earch_white.png" id="221" name="Google Shape;22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771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/>
          <p:nvPr/>
        </p:nvSpPr>
        <p:spPr>
          <a:xfrm>
            <a:off x="3470148" y="3337560"/>
            <a:ext cx="250088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358902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 busca y postula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358902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Filtra licitaciones y envía su propuesta.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07517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26" name="Google Shape;22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5805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6190488" y="3337560"/>
            <a:ext cx="250088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630936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 decide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630936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Revisa postulaciones y elige.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9795510" y="2377440"/>
            <a:ext cx="731520" cy="731520"/>
          </a:xfrm>
          <a:prstGeom prst="ellipse">
            <a:avLst/>
          </a:prstGeom>
          <a:solidFill>
            <a:srgbClr val="3A5A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ail_white.png" id="231" name="Google Shape;23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7839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/>
          <p:nvPr/>
        </p:nvSpPr>
        <p:spPr>
          <a:xfrm>
            <a:off x="8910828" y="3337560"/>
            <a:ext cx="250088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902970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Notificación automática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902970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Ambas partes reciben aviso por correo.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/>
          <p:nvPr/>
        </p:nvSpPr>
        <p:spPr>
          <a:xfrm>
            <a:off x="9875520" y="-1463040"/>
            <a:ext cx="4389120" cy="438912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INNOVACIÓN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548640" y="676656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LicitAsist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548640" y="135331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Asistente conversacional con inteligencia artificial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48640" y="2011680"/>
            <a:ext cx="3584448" cy="2103120"/>
          </a:xfrm>
          <a:prstGeom prst="roundRect">
            <a:avLst>
              <a:gd fmla="val 4348" name="adj"/>
            </a:avLst>
          </a:prstGeom>
          <a:solidFill>
            <a:srgbClr val="1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alert_white.png" id="248" name="Google Shape;2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9"/>
          <p:cNvSpPr txBox="1"/>
          <p:nvPr/>
        </p:nvSpPr>
        <p:spPr>
          <a:xfrm>
            <a:off x="1371600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777240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Licitadores y Pymes pierden tiempo revisando manualmente licitaciones, postulaciones y planes.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334256" y="2011680"/>
            <a:ext cx="3584448" cy="2103120"/>
          </a:xfrm>
          <a:prstGeom prst="roundRect">
            <a:avLst>
              <a:gd fmla="val 4348" name="adj"/>
            </a:avLst>
          </a:prstGeom>
          <a:solidFill>
            <a:srgbClr val="1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562856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essage_white.png" id="253" name="Google Shape;2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557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 txBox="1"/>
          <p:nvPr/>
        </p:nvSpPr>
        <p:spPr>
          <a:xfrm>
            <a:off x="5157216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4562856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Chatbot integrado que usa datos reales de la plataforma vía Groq API.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119872" y="2011680"/>
            <a:ext cx="3584448" cy="2103120"/>
          </a:xfrm>
          <a:prstGeom prst="roundRect">
            <a:avLst>
              <a:gd fmla="val 4348" name="adj"/>
            </a:avLst>
          </a:prstGeom>
          <a:solidFill>
            <a:srgbClr val="1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8348472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zap_gold.png" id="258" name="Google Shape;25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9173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 txBox="1"/>
          <p:nvPr/>
        </p:nvSpPr>
        <p:spPr>
          <a:xfrm>
            <a:off x="8942832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Beneficio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8348472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Respuestas instantáneas, decisiones más rápidas y menor carga operativa.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fmla="val 6452" name="adj"/>
            </a:avLst>
          </a:prstGeom>
          <a:solidFill>
            <a:srgbClr val="1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868680" y="452628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“¿Qué licitaciones de tecnología están abiertas y cierran esta semana?”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Hay 3 abiertas que cierran esta semana: “Soporte técnico TI” (2 días), “Desarrollo de sitio web” (4 días) y “Auditoría de ciberseguridad” (5 días). ¿Te ayudo a postular a alguna?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Microservicios, cada uno con su propia base de datos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48640" y="2148840"/>
            <a:ext cx="2084832" cy="2286000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335024" y="2404872"/>
            <a:ext cx="512064" cy="512064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plus_white.png" id="275" name="Google Shape;2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7919" y="252776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 txBox="1"/>
          <p:nvPr/>
        </p:nvSpPr>
        <p:spPr>
          <a:xfrm>
            <a:off x="685800" y="3063240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Service </a:t>
            </a: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685800" y="3566160"/>
            <a:ext cx="18105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Autenticación, perfiles y roles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2798064" y="2148840"/>
            <a:ext cx="2084832" cy="2286000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3584448" y="2404872"/>
            <a:ext cx="512064" cy="512064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filetext_white.png" id="280" name="Google Shape;2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7343" y="252776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0"/>
          <p:cNvSpPr txBox="1"/>
          <p:nvPr/>
        </p:nvSpPr>
        <p:spPr>
          <a:xfrm>
            <a:off x="2935224" y="3063240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Service </a:t>
            </a: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2935224" y="3566160"/>
            <a:ext cx="18105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Publicación, búsqueda y postulación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5047488" y="2148840"/>
            <a:ext cx="2084832" cy="2286000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5833872" y="2404872"/>
            <a:ext cx="512064" cy="512064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g_white.png" id="285" name="Google Shape;28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6767" y="252776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0"/>
          <p:cNvSpPr txBox="1"/>
          <p:nvPr/>
        </p:nvSpPr>
        <p:spPr>
          <a:xfrm>
            <a:off x="5184648" y="3063240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 Ventas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5184648" y="3566160"/>
            <a:ext cx="18105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Planes, suscripciones y pagos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7296912" y="2148840"/>
            <a:ext cx="2084700" cy="2286000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8083296" y="2404872"/>
            <a:ext cx="512064" cy="512064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ail_white.png" id="290" name="Google Shape;29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06191" y="252776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0"/>
          <p:cNvSpPr txBox="1"/>
          <p:nvPr/>
        </p:nvSpPr>
        <p:spPr>
          <a:xfrm>
            <a:off x="7434072" y="3063240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Service </a:t>
            </a: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 Notificaciones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7434072" y="3566160"/>
            <a:ext cx="18105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Alertas y confirmaciones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9546336" y="2148840"/>
            <a:ext cx="2084700" cy="2286000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0332720" y="2404872"/>
            <a:ext cx="512100" cy="5121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essage_white.png" id="295" name="Google Shape;29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55615" y="252776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0"/>
          <p:cNvSpPr txBox="1"/>
          <p:nvPr/>
        </p:nvSpPr>
        <p:spPr>
          <a:xfrm>
            <a:off x="9683496" y="3063240"/>
            <a:ext cx="1810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Service </a:t>
            </a: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 Asistente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9683496" y="3566160"/>
            <a:ext cx="1810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Orquesta LicitAsist (sin BD propia)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48640" y="475488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822960" y="4754880"/>
            <a:ext cx="10607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Cada microservicio </a:t>
            </a: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expone su propia API REST y conserva su propia base de datos PostgreSQL</a:t>
            </a: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 — no existe acceso directo entre bases de datos de distintos servicios. Backend en Java con Spring Boot; frontend en React.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Cómo se comunican los microservicios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Todo el tráfico entra por un único punto de control.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63878" y="1783075"/>
            <a:ext cx="110643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713232" y="1911096"/>
            <a:ext cx="338328" cy="33832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onitor_gold.png" id="312" name="Google Shape;3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356" y="1987220"/>
            <a:ext cx="186080" cy="18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1"/>
          <p:cNvSpPr txBox="1"/>
          <p:nvPr/>
        </p:nvSpPr>
        <p:spPr>
          <a:xfrm>
            <a:off x="1188720" y="182880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Frontend — React + TypeScript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1"/>
          <p:cNvCxnSpPr/>
          <p:nvPr/>
        </p:nvCxnSpPr>
        <p:spPr>
          <a:xfrm>
            <a:off x="6080760" y="2331720"/>
            <a:ext cx="0" cy="201168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11"/>
          <p:cNvSpPr/>
          <p:nvPr/>
        </p:nvSpPr>
        <p:spPr>
          <a:xfrm>
            <a:off x="548640" y="2542032"/>
            <a:ext cx="11064240" cy="1188720"/>
          </a:xfrm>
          <a:prstGeom prst="roundRect">
            <a:avLst>
              <a:gd fmla="val 6923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822960" y="2688336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hield_gold.png" id="317" name="Google Shape;31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661" y="2809037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1"/>
          <p:cNvSpPr txBox="1"/>
          <p:nvPr/>
        </p:nvSpPr>
        <p:spPr>
          <a:xfrm>
            <a:off x="1463040" y="268833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822960" y="3291840"/>
            <a:ext cx="580644" cy="347472"/>
          </a:xfrm>
          <a:prstGeom prst="roundRect">
            <a:avLst>
              <a:gd fmla="val 50000" name="adj"/>
            </a:avLst>
          </a:prstGeom>
          <a:solidFill>
            <a:srgbClr val="24365C"/>
          </a:solidFill>
          <a:ln cap="flat" cmpd="sng" w="9525">
            <a:solidFill>
              <a:srgbClr val="3A5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822960" y="3291840"/>
            <a:ext cx="5806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JWT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549908" y="3291840"/>
            <a:ext cx="667512" cy="347472"/>
          </a:xfrm>
          <a:prstGeom prst="roundRect">
            <a:avLst>
              <a:gd fmla="val 50000" name="adj"/>
            </a:avLst>
          </a:prstGeom>
          <a:solidFill>
            <a:srgbClr val="24365C"/>
          </a:solidFill>
          <a:ln cap="flat" cmpd="sng" w="9525">
            <a:solidFill>
              <a:srgbClr val="3A5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1549908" y="3291840"/>
            <a:ext cx="667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RBAC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2363724" y="3291840"/>
            <a:ext cx="667512" cy="347472"/>
          </a:xfrm>
          <a:prstGeom prst="roundRect">
            <a:avLst>
              <a:gd fmla="val 50000" name="adj"/>
            </a:avLst>
          </a:prstGeom>
          <a:solidFill>
            <a:srgbClr val="24365C"/>
          </a:solidFill>
          <a:ln cap="flat" cmpd="sng" w="9525">
            <a:solidFill>
              <a:srgbClr val="3A5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2363724" y="3291840"/>
            <a:ext cx="667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3177540" y="3291840"/>
            <a:ext cx="1188720" cy="347472"/>
          </a:xfrm>
          <a:prstGeom prst="roundRect">
            <a:avLst>
              <a:gd fmla="val 50000" name="adj"/>
            </a:avLst>
          </a:prstGeom>
          <a:solidFill>
            <a:srgbClr val="24365C"/>
          </a:solidFill>
          <a:ln cap="flat" cmpd="sng" w="9525">
            <a:solidFill>
              <a:srgbClr val="3A5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3177540" y="3291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Rate limit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512564" y="3291840"/>
            <a:ext cx="1449324" cy="347472"/>
          </a:xfrm>
          <a:prstGeom prst="roundRect">
            <a:avLst>
              <a:gd fmla="val 50000" name="adj"/>
            </a:avLst>
          </a:prstGeom>
          <a:solidFill>
            <a:srgbClr val="24365C"/>
          </a:solidFill>
          <a:ln cap="flat" cmpd="sng" w="9525">
            <a:solidFill>
              <a:srgbClr val="3A5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4512564" y="3291840"/>
            <a:ext cx="14493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injection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1"/>
          <p:cNvCxnSpPr/>
          <p:nvPr/>
        </p:nvCxnSpPr>
        <p:spPr>
          <a:xfrm>
            <a:off x="6080760" y="3730752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11"/>
          <p:cNvCxnSpPr/>
          <p:nvPr/>
        </p:nvCxnSpPr>
        <p:spPr>
          <a:xfrm flipH="1" rot="10800000">
            <a:off x="1020675" y="3898850"/>
            <a:ext cx="11148000" cy="57900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1"/>
          <p:cNvSpPr/>
          <p:nvPr/>
        </p:nvSpPr>
        <p:spPr>
          <a:xfrm>
            <a:off x="994375" y="4089613"/>
            <a:ext cx="1723800" cy="128940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1618488" y="4387991"/>
            <a:ext cx="475500" cy="4755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plus_white.png" id="333" name="Google Shape;33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2605" y="4502108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1"/>
          <p:cNvSpPr txBox="1"/>
          <p:nvPr/>
        </p:nvSpPr>
        <p:spPr>
          <a:xfrm>
            <a:off x="994351" y="5012136"/>
            <a:ext cx="17238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Usuarios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3262300" y="4057050"/>
            <a:ext cx="1895700" cy="135330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3947378" y="4332578"/>
            <a:ext cx="475500" cy="4755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filetext_white.png" id="337" name="Google Shape;33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61494" y="4446695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1"/>
          <p:cNvSpPr txBox="1"/>
          <p:nvPr/>
        </p:nvSpPr>
        <p:spPr>
          <a:xfrm>
            <a:off x="2968970" y="4954370"/>
            <a:ext cx="243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Licitaciones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5687963" y="4057663"/>
            <a:ext cx="1723800" cy="135330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6328817" y="4194941"/>
            <a:ext cx="475500" cy="4755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g_white.png" id="341" name="Google Shape;34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42934" y="4309058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1"/>
          <p:cNvSpPr txBox="1"/>
          <p:nvPr/>
        </p:nvSpPr>
        <p:spPr>
          <a:xfrm>
            <a:off x="5350409" y="4816733"/>
            <a:ext cx="243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MS-Ventas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8081625" y="4057663"/>
            <a:ext cx="1895700" cy="141720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8737307" y="4226891"/>
            <a:ext cx="475500" cy="4755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ail_white.png" id="345" name="Google Shape;34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51424" y="4341008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1"/>
          <p:cNvSpPr txBox="1"/>
          <p:nvPr/>
        </p:nvSpPr>
        <p:spPr>
          <a:xfrm>
            <a:off x="7758899" y="4848683"/>
            <a:ext cx="243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Notificaciones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274328" y="5737863"/>
            <a:ext cx="11064300" cy="621900"/>
          </a:xfrm>
          <a:prstGeom prst="roundRect">
            <a:avLst>
              <a:gd fmla="val 11765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548647" y="5737863"/>
            <a:ext cx="106071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Notificaciones también recibe llamadas REST directas de </a:t>
            </a:r>
            <a:r>
              <a:rPr lang="en-US"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Usuarios,</a:t>
            </a: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 Licitaciones y MS-Ventas cuando ocurre un evento — sin bus de mensajería.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10538400" y="4004125"/>
            <a:ext cx="1653600" cy="1417200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10075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25" lIns="72525" spcFirstLastPara="1" rIns="72525" wrap="square" tIns="7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0"/>
              <a:buFont typeface="Arial"/>
              <a:buNone/>
            </a:pPr>
            <a:r>
              <a:t/>
            </a:r>
            <a:endParaRPr b="0" i="0" sz="1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11162140" y="4144136"/>
            <a:ext cx="406200" cy="4062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72525" lIns="72525" spcFirstLastPara="1" rIns="72525" wrap="square" tIns="7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0"/>
              <a:buFont typeface="Arial"/>
              <a:buNone/>
            </a:pPr>
            <a:r>
              <a:t/>
            </a:r>
            <a:endParaRPr b="0" i="0" sz="1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essage_white.png" id="353" name="Google Shape;353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59617" y="4241612"/>
            <a:ext cx="211199" cy="21119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1"/>
          <p:cNvSpPr txBox="1"/>
          <p:nvPr/>
        </p:nvSpPr>
        <p:spPr>
          <a:xfrm>
            <a:off x="10647194" y="4708693"/>
            <a:ext cx="14361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250" lIns="72525" spcFirstLastPara="1" rIns="72525" wrap="square" tIns="36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912"/>
              <a:buFont typeface="Calibri"/>
              <a:buNone/>
            </a:pPr>
            <a:r>
              <a:rPr b="1" lang="en-US"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Service  Asistente</a:t>
            </a:r>
            <a:endParaRPr b="0" i="0" sz="9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11"/>
          <p:cNvCxnSpPr/>
          <p:nvPr/>
        </p:nvCxnSpPr>
        <p:spPr>
          <a:xfrm>
            <a:off x="11365210" y="3894665"/>
            <a:ext cx="0" cy="183000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11"/>
          <p:cNvCxnSpPr/>
          <p:nvPr/>
        </p:nvCxnSpPr>
        <p:spPr>
          <a:xfrm>
            <a:off x="1781335" y="3922140"/>
            <a:ext cx="0" cy="183000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11"/>
          <p:cNvCxnSpPr>
            <a:endCxn id="339" idx="0"/>
          </p:cNvCxnSpPr>
          <p:nvPr/>
        </p:nvCxnSpPr>
        <p:spPr>
          <a:xfrm>
            <a:off x="6549863" y="3928363"/>
            <a:ext cx="0" cy="129300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11"/>
          <p:cNvCxnSpPr>
            <a:endCxn id="335" idx="0"/>
          </p:cNvCxnSpPr>
          <p:nvPr/>
        </p:nvCxnSpPr>
        <p:spPr>
          <a:xfrm>
            <a:off x="4210150" y="3940050"/>
            <a:ext cx="0" cy="117000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11"/>
          <p:cNvCxnSpPr/>
          <p:nvPr/>
        </p:nvCxnSpPr>
        <p:spPr>
          <a:xfrm>
            <a:off x="9029485" y="3887315"/>
            <a:ext cx="0" cy="183000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h2b446a4234812dac_0_4" title="WhatsApp Image 2026-10-01 at 11.26.37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00" y="661675"/>
            <a:ext cx="11578200" cy="567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USUARIOS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El núcleo de identidad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 usuario base, especializado por rol — normalizado, sin duplicar datos.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548640" y="1828800"/>
            <a:ext cx="539496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548640" y="1828800"/>
            <a:ext cx="5394960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548640" y="2020824"/>
            <a:ext cx="5394960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2"/>
          <p:cNvSpPr txBox="1"/>
          <p:nvPr/>
        </p:nvSpPr>
        <p:spPr>
          <a:xfrm>
            <a:off x="694944" y="182880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 txBox="1"/>
          <p:nvPr/>
        </p:nvSpPr>
        <p:spPr>
          <a:xfrm>
            <a:off x="694944" y="2267712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3246120" y="2267712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694944" y="2560320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nombre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 txBox="1"/>
          <p:nvPr/>
        </p:nvSpPr>
        <p:spPr>
          <a:xfrm>
            <a:off x="3246120" y="2560320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217920" y="1828800"/>
            <a:ext cx="5394960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6217920" y="1828800"/>
            <a:ext cx="5394960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6217920" y="2020824"/>
            <a:ext cx="5394960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 txBox="1"/>
          <p:nvPr/>
        </p:nvSpPr>
        <p:spPr>
          <a:xfrm>
            <a:off x="6364224" y="182880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usuario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6364224" y="2267712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 txBox="1"/>
          <p:nvPr/>
        </p:nvSpPr>
        <p:spPr>
          <a:xfrm>
            <a:off x="8915400" y="2267712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6364224" y="2560320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 txBox="1"/>
          <p:nvPr/>
        </p:nvSpPr>
        <p:spPr>
          <a:xfrm>
            <a:off x="8915400" y="2560320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 txBox="1"/>
          <p:nvPr/>
        </p:nvSpPr>
        <p:spPr>
          <a:xfrm>
            <a:off x="6364224" y="2852928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rol_id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8915400" y="2852928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 txBox="1"/>
          <p:nvPr/>
        </p:nvSpPr>
        <p:spPr>
          <a:xfrm>
            <a:off x="6364224" y="3145536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activo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 txBox="1"/>
          <p:nvPr/>
        </p:nvSpPr>
        <p:spPr>
          <a:xfrm>
            <a:off x="8915400" y="3145536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548640" y="3703320"/>
            <a:ext cx="3538728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548640" y="3703320"/>
            <a:ext cx="3538728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548640" y="3895344"/>
            <a:ext cx="3538728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2"/>
          <p:cNvSpPr txBox="1"/>
          <p:nvPr/>
        </p:nvSpPr>
        <p:spPr>
          <a:xfrm>
            <a:off x="694944" y="3703320"/>
            <a:ext cx="32644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licitador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 txBox="1"/>
          <p:nvPr/>
        </p:nvSpPr>
        <p:spPr>
          <a:xfrm>
            <a:off x="694944" y="4142232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2318004" y="4142232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 txBox="1"/>
          <p:nvPr/>
        </p:nvSpPr>
        <p:spPr>
          <a:xfrm>
            <a:off x="694944" y="4434840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usuario_id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 txBox="1"/>
          <p:nvPr/>
        </p:nvSpPr>
        <p:spPr>
          <a:xfrm>
            <a:off x="2318004" y="4434840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FK/UNIQUE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 txBox="1"/>
          <p:nvPr/>
        </p:nvSpPr>
        <p:spPr>
          <a:xfrm>
            <a:off x="694944" y="4727448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razon_social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 txBox="1"/>
          <p:nvPr/>
        </p:nvSpPr>
        <p:spPr>
          <a:xfrm>
            <a:off x="2318004" y="4727448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 txBox="1"/>
          <p:nvPr/>
        </p:nvSpPr>
        <p:spPr>
          <a:xfrm>
            <a:off x="694944" y="5020056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rut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 txBox="1"/>
          <p:nvPr/>
        </p:nvSpPr>
        <p:spPr>
          <a:xfrm>
            <a:off x="2318004" y="5020056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4288536" y="3703320"/>
            <a:ext cx="3538728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4288536" y="3703320"/>
            <a:ext cx="3538728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4288536" y="3895344"/>
            <a:ext cx="3538728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2"/>
          <p:cNvSpPr txBox="1"/>
          <p:nvPr/>
        </p:nvSpPr>
        <p:spPr>
          <a:xfrm>
            <a:off x="4434840" y="3703320"/>
            <a:ext cx="32644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pyme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4434840" y="4142232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 txBox="1"/>
          <p:nvPr/>
        </p:nvSpPr>
        <p:spPr>
          <a:xfrm>
            <a:off x="6057900" y="4142232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 txBox="1"/>
          <p:nvPr/>
        </p:nvSpPr>
        <p:spPr>
          <a:xfrm>
            <a:off x="4434840" y="4434840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usuario_id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6057900" y="4434840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FK/UNIQUE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 txBox="1"/>
          <p:nvPr/>
        </p:nvSpPr>
        <p:spPr>
          <a:xfrm>
            <a:off x="4434840" y="4727448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nombre_contacto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 txBox="1"/>
          <p:nvPr/>
        </p:nvSpPr>
        <p:spPr>
          <a:xfrm>
            <a:off x="6057900" y="4727448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4434840" y="5020056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rut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 txBox="1"/>
          <p:nvPr/>
        </p:nvSpPr>
        <p:spPr>
          <a:xfrm>
            <a:off x="6057900" y="5020056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8028432" y="3703320"/>
            <a:ext cx="3538728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8028432" y="3703320"/>
            <a:ext cx="3538728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8028432" y="3895344"/>
            <a:ext cx="3538728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2"/>
          <p:cNvSpPr txBox="1"/>
          <p:nvPr/>
        </p:nvSpPr>
        <p:spPr>
          <a:xfrm>
            <a:off x="8174736" y="3703320"/>
            <a:ext cx="32644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administrador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 txBox="1"/>
          <p:nvPr/>
        </p:nvSpPr>
        <p:spPr>
          <a:xfrm>
            <a:off x="8174736" y="4142232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 txBox="1"/>
          <p:nvPr/>
        </p:nvSpPr>
        <p:spPr>
          <a:xfrm>
            <a:off x="9797796" y="4142232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 txBox="1"/>
          <p:nvPr/>
        </p:nvSpPr>
        <p:spPr>
          <a:xfrm>
            <a:off x="8174736" y="4434840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usuario_id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 txBox="1"/>
          <p:nvPr/>
        </p:nvSpPr>
        <p:spPr>
          <a:xfrm>
            <a:off x="9797796" y="4434840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FK/UNIQUE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 txBox="1"/>
          <p:nvPr/>
        </p:nvSpPr>
        <p:spPr>
          <a:xfrm>
            <a:off x="8174736" y="4727448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area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9797796" y="4727448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fmla="val 10000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licitador, pyme y administrador comparten el mismo usuario base — cada uno lo extiende 1:1 con sus propios datos, sin repetir email ni contraseña.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LICITACIONES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Una licitación, muchas postulaciones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Relación 1 : N — cada licitación puede recibir varias postulaciones.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548640" y="2011680"/>
            <a:ext cx="5394960" cy="2249424"/>
          </a:xfrm>
          <a:prstGeom prst="roundRect">
            <a:avLst>
              <a:gd fmla="val 3252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548640" y="2011680"/>
            <a:ext cx="5394960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548640" y="2203704"/>
            <a:ext cx="5394960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3"/>
          <p:cNvSpPr txBox="1"/>
          <p:nvPr/>
        </p:nvSpPr>
        <p:spPr>
          <a:xfrm>
            <a:off x="694944" y="201168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licitacion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 txBox="1"/>
          <p:nvPr/>
        </p:nvSpPr>
        <p:spPr>
          <a:xfrm>
            <a:off x="694944" y="2450592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 txBox="1"/>
          <p:nvPr/>
        </p:nvSpPr>
        <p:spPr>
          <a:xfrm>
            <a:off x="3246120" y="2450592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 txBox="1"/>
          <p:nvPr/>
        </p:nvSpPr>
        <p:spPr>
          <a:xfrm>
            <a:off x="694944" y="2743200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licitador_id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 txBox="1"/>
          <p:nvPr/>
        </p:nvSpPr>
        <p:spPr>
          <a:xfrm>
            <a:off x="3246120" y="2743200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Usuarios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 txBox="1"/>
          <p:nvPr/>
        </p:nvSpPr>
        <p:spPr>
          <a:xfrm>
            <a:off x="694944" y="3035808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titulo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 txBox="1"/>
          <p:nvPr/>
        </p:nvSpPr>
        <p:spPr>
          <a:xfrm>
            <a:off x="3246120" y="3035808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 txBox="1"/>
          <p:nvPr/>
        </p:nvSpPr>
        <p:spPr>
          <a:xfrm>
            <a:off x="694944" y="3328416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monto_estimado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 txBox="1"/>
          <p:nvPr/>
        </p:nvSpPr>
        <p:spPr>
          <a:xfrm>
            <a:off x="3246120" y="3328416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numeric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 txBox="1"/>
          <p:nvPr/>
        </p:nvSpPr>
        <p:spPr>
          <a:xfrm>
            <a:off x="694944" y="3621024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fecha_cierre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 txBox="1"/>
          <p:nvPr/>
        </p:nvSpPr>
        <p:spPr>
          <a:xfrm>
            <a:off x="3246120" y="3621024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 txBox="1"/>
          <p:nvPr/>
        </p:nvSpPr>
        <p:spPr>
          <a:xfrm>
            <a:off x="694944" y="3913632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estado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 txBox="1"/>
          <p:nvPr/>
        </p:nvSpPr>
        <p:spPr>
          <a:xfrm>
            <a:off x="3246120" y="3913632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6217920" y="2011680"/>
            <a:ext cx="5394960" cy="1956816"/>
          </a:xfrm>
          <a:prstGeom prst="roundRect">
            <a:avLst>
              <a:gd fmla="val 3738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6217920" y="2011680"/>
            <a:ext cx="5394960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6217920" y="2203704"/>
            <a:ext cx="5394960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3"/>
          <p:cNvSpPr txBox="1"/>
          <p:nvPr/>
        </p:nvSpPr>
        <p:spPr>
          <a:xfrm>
            <a:off x="6364224" y="201168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postulacion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 txBox="1"/>
          <p:nvPr/>
        </p:nvSpPr>
        <p:spPr>
          <a:xfrm>
            <a:off x="6364224" y="2450592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 txBox="1"/>
          <p:nvPr/>
        </p:nvSpPr>
        <p:spPr>
          <a:xfrm>
            <a:off x="8915400" y="2450592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6364224" y="2743200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licitacion_id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 txBox="1"/>
          <p:nvPr/>
        </p:nvSpPr>
        <p:spPr>
          <a:xfrm>
            <a:off x="8915400" y="2743200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licitacion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 txBox="1"/>
          <p:nvPr/>
        </p:nvSpPr>
        <p:spPr>
          <a:xfrm>
            <a:off x="6364224" y="3035808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pyme_id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 txBox="1"/>
          <p:nvPr/>
        </p:nvSpPr>
        <p:spPr>
          <a:xfrm>
            <a:off x="8915400" y="3035808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Usuarios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 txBox="1"/>
          <p:nvPr/>
        </p:nvSpPr>
        <p:spPr>
          <a:xfrm>
            <a:off x="6364224" y="3328416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fecha_postulacion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 txBox="1"/>
          <p:nvPr/>
        </p:nvSpPr>
        <p:spPr>
          <a:xfrm>
            <a:off x="8915400" y="3328416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 txBox="1"/>
          <p:nvPr/>
        </p:nvSpPr>
        <p:spPr>
          <a:xfrm>
            <a:off x="6364224" y="3621024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estado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 txBox="1"/>
          <p:nvPr/>
        </p:nvSpPr>
        <p:spPr>
          <a:xfrm>
            <a:off x="8915400" y="3621024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fmla="val 8421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3"/>
          <p:cNvSpPr txBox="1"/>
          <p:nvPr/>
        </p:nvSpPr>
        <p:spPr>
          <a:xfrm>
            <a:off x="822960" y="443484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licitador_id y pyme_id no son llaves foráneas hacia otra base de datos: son un ID simple que se valida por API contra el microservicio de Usuarios — cada base sigue siendo dueña exclusiva de sus datos.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MS-VENTAS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 la suscripción al pago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 flujo va en cadena: un plan da origen a una suscripción, una venta y un pago.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548640" y="1828800"/>
            <a:ext cx="2596896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4"/>
          <p:cNvSpPr/>
          <p:nvPr/>
        </p:nvSpPr>
        <p:spPr>
          <a:xfrm>
            <a:off x="548640" y="1828800"/>
            <a:ext cx="2596896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548640" y="2020824"/>
            <a:ext cx="2596896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4"/>
          <p:cNvSpPr txBox="1"/>
          <p:nvPr/>
        </p:nvSpPr>
        <p:spPr>
          <a:xfrm>
            <a:off x="694944" y="1828800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plan_suscripcion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 txBox="1"/>
          <p:nvPr/>
        </p:nvSpPr>
        <p:spPr>
          <a:xfrm>
            <a:off x="694944" y="2267712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 txBox="1"/>
          <p:nvPr/>
        </p:nvSpPr>
        <p:spPr>
          <a:xfrm>
            <a:off x="1847088" y="2267712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 txBox="1"/>
          <p:nvPr/>
        </p:nvSpPr>
        <p:spPr>
          <a:xfrm>
            <a:off x="694944" y="2560320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nombre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 txBox="1"/>
          <p:nvPr/>
        </p:nvSpPr>
        <p:spPr>
          <a:xfrm>
            <a:off x="1847088" y="2560320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Estándar/Premium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3346704" y="1828800"/>
            <a:ext cx="2596896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3346704" y="1828800"/>
            <a:ext cx="2596896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3346704" y="2020824"/>
            <a:ext cx="2596896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4"/>
          <p:cNvSpPr txBox="1"/>
          <p:nvPr/>
        </p:nvSpPr>
        <p:spPr>
          <a:xfrm>
            <a:off x="3493008" y="1828800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suscripcion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 txBox="1"/>
          <p:nvPr/>
        </p:nvSpPr>
        <p:spPr>
          <a:xfrm>
            <a:off x="3493008" y="2267712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 txBox="1"/>
          <p:nvPr/>
        </p:nvSpPr>
        <p:spPr>
          <a:xfrm>
            <a:off x="4645152" y="2267712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 txBox="1"/>
          <p:nvPr/>
        </p:nvSpPr>
        <p:spPr>
          <a:xfrm>
            <a:off x="3493008" y="2560320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usuario_id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 txBox="1"/>
          <p:nvPr/>
        </p:nvSpPr>
        <p:spPr>
          <a:xfrm>
            <a:off x="4645152" y="2560320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Usuarios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 txBox="1"/>
          <p:nvPr/>
        </p:nvSpPr>
        <p:spPr>
          <a:xfrm>
            <a:off x="3493008" y="2852928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plan_id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 txBox="1"/>
          <p:nvPr/>
        </p:nvSpPr>
        <p:spPr>
          <a:xfrm>
            <a:off x="4645152" y="2852928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 txBox="1"/>
          <p:nvPr/>
        </p:nvSpPr>
        <p:spPr>
          <a:xfrm>
            <a:off x="3493008" y="3145536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estado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 txBox="1"/>
          <p:nvPr/>
        </p:nvSpPr>
        <p:spPr>
          <a:xfrm>
            <a:off x="4645152" y="3145536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6144768" y="1828800"/>
            <a:ext cx="2596896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6144768" y="1828800"/>
            <a:ext cx="2596896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6144768" y="2020824"/>
            <a:ext cx="2596896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4"/>
          <p:cNvSpPr txBox="1"/>
          <p:nvPr/>
        </p:nvSpPr>
        <p:spPr>
          <a:xfrm>
            <a:off x="6291072" y="1828800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venta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 txBox="1"/>
          <p:nvPr/>
        </p:nvSpPr>
        <p:spPr>
          <a:xfrm>
            <a:off x="6291072" y="2267712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 txBox="1"/>
          <p:nvPr/>
        </p:nvSpPr>
        <p:spPr>
          <a:xfrm>
            <a:off x="7443216" y="2267712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 txBox="1"/>
          <p:nvPr/>
        </p:nvSpPr>
        <p:spPr>
          <a:xfrm>
            <a:off x="6291072" y="2560320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suscripcion_id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 txBox="1"/>
          <p:nvPr/>
        </p:nvSpPr>
        <p:spPr>
          <a:xfrm>
            <a:off x="7443216" y="2560320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suscripcion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 txBox="1"/>
          <p:nvPr/>
        </p:nvSpPr>
        <p:spPr>
          <a:xfrm>
            <a:off x="6291072" y="2852928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monto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7443216" y="2852928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numeric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 txBox="1"/>
          <p:nvPr/>
        </p:nvSpPr>
        <p:spPr>
          <a:xfrm>
            <a:off x="6291072" y="3145536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fecha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 txBox="1"/>
          <p:nvPr/>
        </p:nvSpPr>
        <p:spPr>
          <a:xfrm>
            <a:off x="7443216" y="3145536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8942832" y="1828800"/>
            <a:ext cx="2596896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8942832" y="1828800"/>
            <a:ext cx="2596896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8942832" y="2020824"/>
            <a:ext cx="2596896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4"/>
          <p:cNvSpPr txBox="1"/>
          <p:nvPr/>
        </p:nvSpPr>
        <p:spPr>
          <a:xfrm>
            <a:off x="9089136" y="1828800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pago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 txBox="1"/>
          <p:nvPr/>
        </p:nvSpPr>
        <p:spPr>
          <a:xfrm>
            <a:off x="9089136" y="2267712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 txBox="1"/>
          <p:nvPr/>
        </p:nvSpPr>
        <p:spPr>
          <a:xfrm>
            <a:off x="10241280" y="2267712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 txBox="1"/>
          <p:nvPr/>
        </p:nvSpPr>
        <p:spPr>
          <a:xfrm>
            <a:off x="9089136" y="2560320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venta_id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 txBox="1"/>
          <p:nvPr/>
        </p:nvSpPr>
        <p:spPr>
          <a:xfrm>
            <a:off x="10241280" y="2560320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FK/UNIQUE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 txBox="1"/>
          <p:nvPr/>
        </p:nvSpPr>
        <p:spPr>
          <a:xfrm>
            <a:off x="9089136" y="2852928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id_transaccion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 txBox="1"/>
          <p:nvPr/>
        </p:nvSpPr>
        <p:spPr>
          <a:xfrm>
            <a:off x="10241280" y="2852928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pasarela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 txBox="1"/>
          <p:nvPr/>
        </p:nvSpPr>
        <p:spPr>
          <a:xfrm>
            <a:off x="9089136" y="3145536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estado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 txBox="1"/>
          <p:nvPr/>
        </p:nvSpPr>
        <p:spPr>
          <a:xfrm>
            <a:off x="10241280" y="3145536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548640" y="397764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4"/>
          <p:cNvSpPr txBox="1"/>
          <p:nvPr/>
        </p:nvSpPr>
        <p:spPr>
          <a:xfrm>
            <a:off x="822960" y="397764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usuario_id no es una llave foránea hacia otra base de datos: es un ID simple validado por API contra el microservicio de Usuarios.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NOTIFICACIONES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 registro por cada evento importante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 microservicio más simple: una sola tabla, sin relaciones propias.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548640" y="1965960"/>
            <a:ext cx="5029200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548640" y="1965960"/>
            <a:ext cx="5029200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548640" y="2157984"/>
            <a:ext cx="5029200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5"/>
          <p:cNvSpPr txBox="1"/>
          <p:nvPr/>
        </p:nvSpPr>
        <p:spPr>
          <a:xfrm>
            <a:off x="694944" y="1965960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notificacion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 txBox="1"/>
          <p:nvPr/>
        </p:nvSpPr>
        <p:spPr>
          <a:xfrm>
            <a:off x="694944" y="2404872"/>
            <a:ext cx="2615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 txBox="1"/>
          <p:nvPr/>
        </p:nvSpPr>
        <p:spPr>
          <a:xfrm>
            <a:off x="3063240" y="2404872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5"/>
          <p:cNvSpPr txBox="1"/>
          <p:nvPr/>
        </p:nvSpPr>
        <p:spPr>
          <a:xfrm>
            <a:off x="694944" y="2697480"/>
            <a:ext cx="2615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usuario_id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 txBox="1"/>
          <p:nvPr/>
        </p:nvSpPr>
        <p:spPr>
          <a:xfrm>
            <a:off x="3063240" y="2697480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Usuarios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 txBox="1"/>
          <p:nvPr/>
        </p:nvSpPr>
        <p:spPr>
          <a:xfrm>
            <a:off x="694944" y="2990088"/>
            <a:ext cx="2615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tipo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 txBox="1"/>
          <p:nvPr/>
        </p:nvSpPr>
        <p:spPr>
          <a:xfrm>
            <a:off x="3063240" y="2990088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 txBox="1"/>
          <p:nvPr/>
        </p:nvSpPr>
        <p:spPr>
          <a:xfrm>
            <a:off x="694944" y="3282696"/>
            <a:ext cx="2615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canal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 txBox="1"/>
          <p:nvPr/>
        </p:nvSpPr>
        <p:spPr>
          <a:xfrm>
            <a:off x="3063240" y="3282696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 txBox="1"/>
          <p:nvPr/>
        </p:nvSpPr>
        <p:spPr>
          <a:xfrm>
            <a:off x="6035040" y="1965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¿QUÉ DISPARA UNA NOTIFICACIÓN?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6035040" y="2377440"/>
            <a:ext cx="457200" cy="4572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filetext_white.png" id="552" name="Google Shape;5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9340" y="24917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15"/>
          <p:cNvSpPr txBox="1"/>
          <p:nvPr/>
        </p:nvSpPr>
        <p:spPr>
          <a:xfrm>
            <a:off x="6675120" y="23774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Licitación publicada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6035040" y="3063240"/>
            <a:ext cx="457200" cy="4572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555" name="Google Shape;55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31546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15"/>
          <p:cNvSpPr txBox="1"/>
          <p:nvPr/>
        </p:nvSpPr>
        <p:spPr>
          <a:xfrm>
            <a:off x="6675120" y="30632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Postulación recibida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6035040" y="3749040"/>
            <a:ext cx="457200" cy="4572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reditcard_white.png" id="558" name="Google Shape;55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9340" y="38633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5"/>
          <p:cNvSpPr txBox="1"/>
          <p:nvPr/>
        </p:nvSpPr>
        <p:spPr>
          <a:xfrm>
            <a:off x="6675120" y="37490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Pago confirmado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5"/>
          <p:cNvSpPr txBox="1"/>
          <p:nvPr/>
        </p:nvSpPr>
        <p:spPr>
          <a:xfrm>
            <a:off x="822960" y="470916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No tiene relaciones con otras tablas propias: API Licitaciones y API MS-Ventas la llaman directamente por REST cuando ocurre uno de estos eventos.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6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Qué entra y qué no entra en el MVP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5225">
            <a:solidFill>
              <a:srgbClr val="1E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573" name="Google Shape;5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830" y="21602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16"/>
          <p:cNvSpPr txBox="1"/>
          <p:nvPr/>
        </p:nvSpPr>
        <p:spPr>
          <a:xfrm>
            <a:off x="1417320" y="2057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7A3D"/>
                </a:solidFill>
                <a:latin typeface="Calibri"/>
                <a:ea typeface="Calibri"/>
                <a:cs typeface="Calibri"/>
                <a:sym typeface="Calibri"/>
              </a:rPr>
              <a:t>Dentro del alcance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 txBox="1"/>
          <p:nvPr/>
        </p:nvSpPr>
        <p:spPr>
          <a:xfrm>
            <a:off x="868680" y="26974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Registro y autenticación (3 perfiles)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 txBox="1"/>
          <p:nvPr/>
        </p:nvSpPr>
        <p:spPr>
          <a:xfrm>
            <a:off x="868680" y="31089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Publicación y administración de licitaciones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 txBox="1"/>
          <p:nvPr/>
        </p:nvSpPr>
        <p:spPr>
          <a:xfrm>
            <a:off x="868680" y="352044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Búsqueda y postulación de Pymes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 txBox="1"/>
          <p:nvPr/>
        </p:nvSpPr>
        <p:spPr>
          <a:xfrm>
            <a:off x="868680" y="393192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Planes de suscripción Estándar y Premium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 txBox="1"/>
          <p:nvPr/>
        </p:nvSpPr>
        <p:spPr>
          <a:xfrm>
            <a:off x="868680" y="43434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Integración con pasarela de pago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 txBox="1"/>
          <p:nvPr/>
        </p:nvSpPr>
        <p:spPr>
          <a:xfrm>
            <a:off x="868680" y="47548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Panel de administración general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 txBox="1"/>
          <p:nvPr/>
        </p:nvSpPr>
        <p:spPr>
          <a:xfrm>
            <a:off x="868680" y="51663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LicitAsist: asistente con 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5225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FBE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x_red.png" id="584" name="Google Shape;5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0830" y="21602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6"/>
          <p:cNvSpPr txBox="1"/>
          <p:nvPr/>
        </p:nvSpPr>
        <p:spPr>
          <a:xfrm>
            <a:off x="7132320" y="2057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Fuera del alcance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 txBox="1"/>
          <p:nvPr/>
        </p:nvSpPr>
        <p:spPr>
          <a:xfrm>
            <a:off x="6583680" y="269748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Obtención automática de licitaciones públicas externas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 txBox="1"/>
          <p:nvPr/>
        </p:nvSpPr>
        <p:spPr>
          <a:xfrm>
            <a:off x="6583680" y="310896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Aplicación móvil nativa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 txBox="1"/>
          <p:nvPr/>
        </p:nvSpPr>
        <p:spPr>
          <a:xfrm>
            <a:off x="6583680" y="352044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Motor propio de recomendación con machine learning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 txBox="1"/>
          <p:nvPr/>
        </p:nvSpPr>
        <p:spPr>
          <a:xfrm>
            <a:off x="6583680" y="393192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Integración con ERP externos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Scrum — 6 sprints de 2 semanas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7"/>
          <p:cNvSpPr txBox="1"/>
          <p:nvPr/>
        </p:nvSpPr>
        <p:spPr>
          <a:xfrm>
            <a:off x="699515" y="136245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Aproximadamente 4 meses, con un entregable funcional al cierre de cada sprint.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548640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946404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7"/>
          <p:cNvSpPr txBox="1"/>
          <p:nvPr/>
        </p:nvSpPr>
        <p:spPr>
          <a:xfrm>
            <a:off x="946404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 txBox="1"/>
          <p:nvPr/>
        </p:nvSpPr>
        <p:spPr>
          <a:xfrm>
            <a:off x="640080" y="2880360"/>
            <a:ext cx="1088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Análisis diseño y arquitectura inicial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/>
          <p:nvPr/>
        </p:nvSpPr>
        <p:spPr>
          <a:xfrm>
            <a:off x="1947672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234543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7"/>
          <p:cNvSpPr txBox="1"/>
          <p:nvPr/>
        </p:nvSpPr>
        <p:spPr>
          <a:xfrm>
            <a:off x="234543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 txBox="1"/>
          <p:nvPr/>
        </p:nvSpPr>
        <p:spPr>
          <a:xfrm>
            <a:off x="2039112" y="2880360"/>
            <a:ext cx="1088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Usuarios y registro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3346704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3744468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7"/>
          <p:cNvSpPr txBox="1"/>
          <p:nvPr/>
        </p:nvSpPr>
        <p:spPr>
          <a:xfrm>
            <a:off x="3744468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 txBox="1"/>
          <p:nvPr/>
        </p:nvSpPr>
        <p:spPr>
          <a:xfrm>
            <a:off x="3438144" y="2880360"/>
            <a:ext cx="1088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/>
          <p:nvPr/>
        </p:nvSpPr>
        <p:spPr>
          <a:xfrm>
            <a:off x="4745736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5143500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7"/>
          <p:cNvSpPr txBox="1"/>
          <p:nvPr/>
        </p:nvSpPr>
        <p:spPr>
          <a:xfrm>
            <a:off x="5143500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7"/>
          <p:cNvSpPr txBox="1"/>
          <p:nvPr/>
        </p:nvSpPr>
        <p:spPr>
          <a:xfrm>
            <a:off x="4805172" y="2948940"/>
            <a:ext cx="1088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 y seleccione</a:t>
            </a:r>
            <a:r>
              <a:rPr b="0" i="0" lang="en-US" sz="105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05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6144768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7"/>
          <p:cNvSpPr/>
          <p:nvPr/>
        </p:nvSpPr>
        <p:spPr>
          <a:xfrm>
            <a:off x="6542532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7"/>
          <p:cNvSpPr txBox="1"/>
          <p:nvPr/>
        </p:nvSpPr>
        <p:spPr>
          <a:xfrm>
            <a:off x="6542532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7"/>
          <p:cNvSpPr txBox="1"/>
          <p:nvPr/>
        </p:nvSpPr>
        <p:spPr>
          <a:xfrm>
            <a:off x="6236208" y="2935224"/>
            <a:ext cx="1088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lang="en-US" sz="1050" u="sng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r>
              <a:rPr b="1" lang="en-US" sz="1050" u="sng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 Administrador y Estado de postulaciones</a:t>
            </a:r>
            <a:endParaRPr b="0" i="0" sz="105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7543800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7941564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7"/>
          <p:cNvSpPr txBox="1"/>
          <p:nvPr/>
        </p:nvSpPr>
        <p:spPr>
          <a:xfrm>
            <a:off x="7941575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fmla="val 4706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7"/>
          <p:cNvSpPr txBox="1"/>
          <p:nvPr/>
        </p:nvSpPr>
        <p:spPr>
          <a:xfrm>
            <a:off x="822960" y="4315968"/>
            <a:ext cx="10607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Facilitadores:  </a:t>
            </a: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stack tecnológico definido desde el inicio, 100% herramientas gratuitas para el desarrollo.</a:t>
            </a:r>
            <a:b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Obstaculizadores:  </a:t>
            </a:r>
            <a:r>
              <a:rPr lang="en-US" sz="125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ependencia de servicios externos con nivel gratuito limitado (IA y pasarela de pago) y coordinación entre </a:t>
            </a:r>
            <a:r>
              <a:rPr lang="en-US" sz="125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4 APis internas y 2 Apis externas.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7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7"/>
          <p:cNvSpPr txBox="1"/>
          <p:nvPr/>
        </p:nvSpPr>
        <p:spPr>
          <a:xfrm>
            <a:off x="9528493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 txBox="1"/>
          <p:nvPr/>
        </p:nvSpPr>
        <p:spPr>
          <a:xfrm>
            <a:off x="9367582" y="2413944"/>
            <a:ext cx="1111418" cy="347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7"/>
          <p:cNvSpPr txBox="1"/>
          <p:nvPr/>
        </p:nvSpPr>
        <p:spPr>
          <a:xfrm>
            <a:off x="10954500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7"/>
          <p:cNvSpPr/>
          <p:nvPr/>
        </p:nvSpPr>
        <p:spPr>
          <a:xfrm>
            <a:off x="9045921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9443685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7"/>
          <p:cNvSpPr txBox="1"/>
          <p:nvPr/>
        </p:nvSpPr>
        <p:spPr>
          <a:xfrm>
            <a:off x="9443673" y="2276245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7"/>
          <p:cNvSpPr txBox="1"/>
          <p:nvPr/>
        </p:nvSpPr>
        <p:spPr>
          <a:xfrm>
            <a:off x="7641096" y="2880312"/>
            <a:ext cx="1088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lang="en-US" sz="1050" u="sng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Pasarela de Pago Externa</a:t>
            </a:r>
            <a:endParaRPr b="0" i="0" sz="105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7"/>
          <p:cNvSpPr txBox="1"/>
          <p:nvPr/>
        </p:nvSpPr>
        <p:spPr>
          <a:xfrm>
            <a:off x="9222208" y="2880299"/>
            <a:ext cx="1088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lang="en-US" sz="1050" u="sng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LicitAsist (IA) + Notificaciones </a:t>
            </a:r>
            <a:endParaRPr b="0" i="0" sz="105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8"/>
          <p:cNvSpPr/>
          <p:nvPr/>
        </p:nvSpPr>
        <p:spPr>
          <a:xfrm>
            <a:off x="-1371600" y="-1463040"/>
            <a:ext cx="4206240" cy="420624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8"/>
          <p:cNvSpPr/>
          <p:nvPr/>
        </p:nvSpPr>
        <p:spPr>
          <a:xfrm>
            <a:off x="10241280" y="3931920"/>
            <a:ext cx="3657600" cy="365760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822960" y="1234440"/>
            <a:ext cx="777240" cy="77724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award_gold.png" id="643" name="Google Shape;6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70" y="14287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18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RESULTADO ESPERADO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8"/>
          <p:cNvSpPr txBox="1"/>
          <p:nvPr/>
        </p:nvSpPr>
        <p:spPr>
          <a:xfrm>
            <a:off x="822960" y="25420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sistema privado, propio y sostenible.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 txBox="1"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LicitaWatch deja de depender de portales externos: los Licitadores publican, las Pymes postulan, y los planes de suscripción financian la operación.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8"/>
          <p:cNvSpPr/>
          <p:nvPr/>
        </p:nvSpPr>
        <p:spPr>
          <a:xfrm>
            <a:off x="822960" y="416052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648" name="Google Shape;6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139" y="422269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18"/>
          <p:cNvSpPr txBox="1"/>
          <p:nvPr/>
        </p:nvSpPr>
        <p:spPr>
          <a:xfrm>
            <a:off x="1280160" y="416052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 microservicios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822960" y="466344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651" name="Google Shape;6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139" y="472561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18"/>
          <p:cNvSpPr txBox="1"/>
          <p:nvPr/>
        </p:nvSpPr>
        <p:spPr>
          <a:xfrm>
            <a:off x="1280160" y="466344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negocio propio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8"/>
          <p:cNvSpPr/>
          <p:nvPr/>
        </p:nvSpPr>
        <p:spPr>
          <a:xfrm>
            <a:off x="822960" y="516636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654" name="Google Shape;6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139" y="522853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18"/>
          <p:cNvSpPr txBox="1"/>
          <p:nvPr/>
        </p:nvSpPr>
        <p:spPr>
          <a:xfrm>
            <a:off x="1280160" y="516636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LicitAsist · IA integrada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8"/>
          <p:cNvSpPr txBox="1"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Gracias — preguntas y comentarios son bienvenidos.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2026-09-23T15:29:00Z</dcterms:created>
  <dc:creator>PptxGenJS</dc:creator>
</cp:coreProperties>
</file>