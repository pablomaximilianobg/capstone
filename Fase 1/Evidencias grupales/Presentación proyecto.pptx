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hUFwlhLJY4xhZMqVNteAK1Ohai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24" Type="http://customschemas.google.com/relationships/presentationmetadata" Target="metadata"/><Relationship Id="rId12" Type="http://schemas.openxmlformats.org/officeDocument/2006/relationships/slide" Target="slides/slide8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≈20 seg. Portada — nombre del proyecto y los 3 perfiles que lo componen.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≈30 seg. Dos caras del mismo problema: quien contrata y quien quiere postular, sin canal común.</a:t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≈30 seg. LicitaWatch como plataforma privada y autosostenible, sin depender de portales externos.</a:t>
            </a:r>
            <a:endParaRPr/>
          </a:p>
        </p:txBody>
      </p:sp>
      <p:sp>
        <p:nvSpPr>
          <p:cNvPr id="54" name="Google Shape;5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≈25 seg. Leer el objetivo general una sola vez, sin detenerse en cada cláusula.</a:t>
            </a:r>
            <a:endParaRPr/>
          </a:p>
        </p:txBody>
      </p:sp>
      <p:sp>
        <p:nvSpPr>
          <p:cNvPr id="79" name="Google Shape;7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≈35 seg. Recorrer la grilla rápido, agrupando de a dos: identidad y publicación; búsqueda y ventas; pagos y administración.</a:t>
            </a:r>
            <a:endParaRPr/>
          </a:p>
        </p:txBody>
      </p:sp>
      <p:sp>
        <p:nvSpPr>
          <p:cNvPr id="92" name="Google Shape;9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≈35 seg. Los 3 perfiles se autentican vía JWT y RBAC; cada uno ve solo lo habilitado para su rol.</a:t>
            </a:r>
            <a:endParaRPr/>
          </a:p>
        </p:txBody>
      </p:sp>
      <p:sp>
        <p:nvSpPr>
          <p:cNvPr id="131" name="Google Shape;13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≈25 seg. Los planes limitan volumen y soporte, no las funciones esenciales: registro, búsqueda y postulación básica siempre están disponibles.</a:t>
            </a:r>
            <a:endParaRPr/>
          </a:p>
        </p:txBody>
      </p:sp>
      <p:sp>
        <p:nvSpPr>
          <p:cNvPr id="176" name="Google Shape;17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≈30 seg. El Administrador supervisa ambos flujos — licitaciones y ventas/pagos — desde el panel de administración.</a:t>
            </a:r>
            <a:endParaRPr/>
          </a:p>
        </p:txBody>
      </p:sp>
      <p:sp>
        <p:nvSpPr>
          <p:cNvPr id="210" name="Google Shape;210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9" name="Google Shape;23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≈35 seg. LicitAsist usa el Free Tier de Groq: sujeto a límites de uso, no es un servicio gratuito ilimitado.</a:t>
            </a:r>
            <a:endParaRPr/>
          </a:p>
        </p:txBody>
      </p:sp>
      <p:sp>
        <p:nvSpPr>
          <p:cNvPr id="240" name="Google Shape;24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≈30 seg. Sin bus de mensajería: los servicios se llaman directo por REST cuando ocurre un evento relevante.</a:t>
            </a:r>
            <a:endParaRPr/>
          </a:p>
        </p:txBody>
      </p:sp>
      <p:sp>
        <p:nvSpPr>
          <p:cNvPr id="269" name="Google Shape;26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≈35 seg. Un solo protocolo entre servicios: REST síncrono. El Gateway concentra la seguridad antes de enrutar a cada API.</a:t>
            </a:r>
            <a:endParaRPr/>
          </a:p>
        </p:txBody>
      </p:sp>
      <p:sp>
        <p:nvSpPr>
          <p:cNvPr id="305" name="Google Shape;30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h2b446a4234812dac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h2b446a4234812dac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h2b446a4234812dac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" name="Google Shape;36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≈30 seg. usuario es la tabla central; licitador/pyme/administrador son extensiones 1:1 según el rol.</a:t>
            </a:r>
            <a:endParaRPr/>
          </a:p>
        </p:txBody>
      </p:sp>
      <p:sp>
        <p:nvSpPr>
          <p:cNvPr id="369" name="Google Shape;36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≈30 seg. Este es el corazón del ciclo de licitación: publicar (licitacion) y postular (postulacion).</a:t>
            </a:r>
            <a:endParaRPr/>
          </a:p>
        </p:txBody>
      </p:sp>
      <p:sp>
        <p:nvSpPr>
          <p:cNvPr id="381" name="Google Shape;381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2" name="Google Shape;39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≈25 seg. Cadena lineal: plan → suscripción → venta → pago, cada tabla referenciando a la anterior.</a:t>
            </a:r>
            <a:endParaRPr/>
          </a:p>
        </p:txBody>
      </p:sp>
      <p:sp>
        <p:nvSpPr>
          <p:cNvPr id="393" name="Google Shape;393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7" name="Google Shape;447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≈20 seg. API Asistente no tiene diapositiva propia de modelo de datos: no guarda información, solo orquesta a las otras cuatro APIs.</a:t>
            </a:r>
            <a:endParaRPr/>
          </a:p>
        </p:txBody>
      </p:sp>
      <p:sp>
        <p:nvSpPr>
          <p:cNvPr id="448" name="Google Shape;448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0" name="Google Shape;48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≈30 seg. El MVP cubre el ciclo completo de licitación y venta; queda fuera todo lo que no es indispensable para demostrarlo.</a:t>
            </a:r>
            <a:endParaRPr/>
          </a:p>
        </p:txBody>
      </p:sp>
      <p:sp>
        <p:nvSpPr>
          <p:cNvPr id="481" name="Google Shape;481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8" name="Google Shape;508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≈40 seg. Recorrer la línea de sprints señalando solo el hito clave (S7: integración de pagos) sin leer los ocho nombres en detalle.</a:t>
            </a:r>
            <a:endParaRPr/>
          </a:p>
        </p:txBody>
      </p:sp>
      <p:sp>
        <p:nvSpPr>
          <p:cNvPr id="509" name="Google Shape;509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1" name="Google Shape;55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≈20 seg. Cierre y espacio para preguntas.</a:t>
            </a:r>
            <a:endParaRPr/>
          </a:p>
        </p:txBody>
      </p:sp>
      <p:sp>
        <p:nvSpPr>
          <p:cNvPr id="552" name="Google Shape;552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6.png"/><Relationship Id="rId5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1.png"/><Relationship Id="rId6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9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image" Target="../media/image7.png"/><Relationship Id="rId7" Type="http://schemas.openxmlformats.org/officeDocument/2006/relationships/image" Target="../media/image3.png"/><Relationship Id="rId8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21.png"/><Relationship Id="rId5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294B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9509760" y="-1645920"/>
            <a:ext cx="4754880" cy="4754880"/>
          </a:xfrm>
          <a:prstGeom prst="ellipse">
            <a:avLst/>
          </a:prstGeom>
          <a:solidFill>
            <a:srgbClr val="0B1A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-1463040" y="5120640"/>
            <a:ext cx="3474720" cy="3474720"/>
          </a:xfrm>
          <a:prstGeom prst="ellipse">
            <a:avLst/>
          </a:prstGeom>
          <a:solidFill>
            <a:srgbClr val="0B1A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822960" y="1417320"/>
            <a:ext cx="868680" cy="868680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briefcase_gold.png" id="19" name="Google Shape;1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130" y="1634490"/>
            <a:ext cx="434340" cy="43434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"/>
          <p:cNvSpPr txBox="1"/>
          <p:nvPr/>
        </p:nvSpPr>
        <p:spPr>
          <a:xfrm>
            <a:off x="822960" y="2468880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PROYECTO DE TÍTULO · INGENIERÍA · 2026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 txBox="1"/>
          <p:nvPr/>
        </p:nvSpPr>
        <p:spPr>
          <a:xfrm>
            <a:off x="777240" y="2788920"/>
            <a:ext cx="96012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600"/>
              <a:buFont typeface="Cambria"/>
              <a:buNone/>
            </a:pPr>
            <a:r>
              <a:rPr b="1" i="0" lang="en-US" sz="5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LicitaWatch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/>
        </p:nvSpPr>
        <p:spPr>
          <a:xfrm>
            <a:off x="822960" y="3794760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2E2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C7D2E2"/>
                </a:solidFill>
                <a:latin typeface="Calibri"/>
                <a:ea typeface="Calibri"/>
                <a:cs typeface="Calibri"/>
                <a:sym typeface="Calibri"/>
              </a:rPr>
              <a:t>Plataforma privada de gestión de licitaciones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822960" y="4572000"/>
            <a:ext cx="1764792" cy="457200"/>
          </a:xfrm>
          <a:prstGeom prst="roundRect">
            <a:avLst>
              <a:gd fmla="val 50000" name="adj"/>
            </a:avLst>
          </a:prstGeom>
          <a:solidFill>
            <a:srgbClr val="1B2E52"/>
          </a:solidFill>
          <a:ln cap="flat" cmpd="sng" w="12700">
            <a:solidFill>
              <a:srgbClr val="D4A2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 txBox="1"/>
          <p:nvPr/>
        </p:nvSpPr>
        <p:spPr>
          <a:xfrm>
            <a:off x="822960" y="4572000"/>
            <a:ext cx="17647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Licitadores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2788920" y="4572000"/>
            <a:ext cx="1051560" cy="457200"/>
          </a:xfrm>
          <a:prstGeom prst="roundRect">
            <a:avLst>
              <a:gd fmla="val 50000" name="adj"/>
            </a:avLst>
          </a:prstGeom>
          <a:solidFill>
            <a:srgbClr val="1B2E52"/>
          </a:solidFill>
          <a:ln cap="flat" cmpd="sng" w="12700">
            <a:solidFill>
              <a:srgbClr val="D4A2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 txBox="1"/>
          <p:nvPr/>
        </p:nvSpPr>
        <p:spPr>
          <a:xfrm>
            <a:off x="2788920" y="4572000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Pymes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4041648" y="4572000"/>
            <a:ext cx="2121408" cy="457200"/>
          </a:xfrm>
          <a:prstGeom prst="roundRect">
            <a:avLst>
              <a:gd fmla="val 50000" name="adj"/>
            </a:avLst>
          </a:prstGeom>
          <a:solidFill>
            <a:srgbClr val="1B2E52"/>
          </a:solidFill>
          <a:ln cap="flat" cmpd="sng" w="12700">
            <a:solidFill>
              <a:srgbClr val="D4A2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 txBox="1"/>
          <p:nvPr/>
        </p:nvSpPr>
        <p:spPr>
          <a:xfrm>
            <a:off x="4041648" y="4572000"/>
            <a:ext cx="21214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Administración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CLIENTE Y PROBLEMA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Un mercado privado, sin canal propio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548640" y="1600200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alert_white.png" id="37" name="Google Shape;3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73736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2"/>
          <p:cNvSpPr txBox="1"/>
          <p:nvPr/>
        </p:nvSpPr>
        <p:spPr>
          <a:xfrm>
            <a:off x="1280160" y="1600200"/>
            <a:ext cx="9875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Las licitaciones privadas se gestionan hoy con planillas, correos y contactos — sin una plataforma propia que las centralice.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548640" y="2514600"/>
            <a:ext cx="5349240" cy="2926080"/>
          </a:xfrm>
          <a:prstGeom prst="roundRect">
            <a:avLst>
              <a:gd fmla="val 3125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868680" y="2834640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briefcase_gold.png" id="41" name="Google Shape;4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0354" y="2966314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2"/>
          <p:cNvSpPr txBox="1"/>
          <p:nvPr/>
        </p:nvSpPr>
        <p:spPr>
          <a:xfrm>
            <a:off x="1554480" y="288036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Licitadores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 txBox="1"/>
          <p:nvPr/>
        </p:nvSpPr>
        <p:spPr>
          <a:xfrm>
            <a:off x="868680" y="3566160"/>
            <a:ext cx="47091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Empresas que necesitan contratar obras, servicios o insumos no tienen un canal controlado para publicar sus procesos ni recibir postulantes calificados.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6172200" y="2514600"/>
            <a:ext cx="5349240" cy="2926080"/>
          </a:xfrm>
          <a:prstGeom prst="roundRect">
            <a:avLst>
              <a:gd fmla="val 3125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492240" y="2834640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users_gold.png" id="46" name="Google Shape;46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23914" y="2966314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 txBox="1"/>
          <p:nvPr/>
        </p:nvSpPr>
        <p:spPr>
          <a:xfrm>
            <a:off x="7178040" y="288036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Pymes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 txBox="1"/>
          <p:nvPr/>
        </p:nvSpPr>
        <p:spPr>
          <a:xfrm>
            <a:off x="6492240" y="3566160"/>
            <a:ext cx="47091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Pymes que ofrecen esos servicios no tienen un lugar centralizado donde buscar, comparar y postular — pierden oportunidades por falta de visibilidad.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LA SOLUCIÓN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LicitaWatch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 txBox="1"/>
          <p:nvPr/>
        </p:nvSpPr>
        <p:spPr>
          <a:xfrm>
            <a:off x="548640" y="13716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Una plataforma privada donde nuestra empresa controla la tecnología y el negocio.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548640" y="2148840"/>
            <a:ext cx="3584448" cy="3291840"/>
          </a:xfrm>
          <a:prstGeom prst="roundRect">
            <a:avLst>
              <a:gd fmla="val 2778" name="adj"/>
            </a:avLst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1975104" y="2514600"/>
            <a:ext cx="731520" cy="731520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briefcase_white.png" id="61" name="Google Shape;6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57984" y="269748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3"/>
          <p:cNvSpPr txBox="1"/>
          <p:nvPr/>
        </p:nvSpPr>
        <p:spPr>
          <a:xfrm>
            <a:off x="777240" y="3474720"/>
            <a:ext cx="31272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Licitadores publican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 txBox="1"/>
          <p:nvPr/>
        </p:nvSpPr>
        <p:spPr>
          <a:xfrm>
            <a:off x="822960" y="3977640"/>
            <a:ext cx="3035808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7D2E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7D2E2"/>
                </a:solidFill>
                <a:latin typeface="Calibri"/>
                <a:ea typeface="Calibri"/>
                <a:cs typeface="Calibri"/>
                <a:sym typeface="Calibri"/>
              </a:rPr>
              <a:t>Publican y administran sus licitaciones de principio a fin.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4334256" y="2148840"/>
            <a:ext cx="3584448" cy="3291840"/>
          </a:xfrm>
          <a:prstGeom prst="roundRect">
            <a:avLst>
              <a:gd fmla="val 2778" name="adj"/>
            </a:avLst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5760720" y="2514600"/>
            <a:ext cx="731520" cy="731520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search_white.png" id="66" name="Google Shape;6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43600" y="269748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3"/>
          <p:cNvSpPr txBox="1"/>
          <p:nvPr/>
        </p:nvSpPr>
        <p:spPr>
          <a:xfrm>
            <a:off x="4562856" y="3474720"/>
            <a:ext cx="31272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Pymes postulan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 txBox="1"/>
          <p:nvPr/>
        </p:nvSpPr>
        <p:spPr>
          <a:xfrm>
            <a:off x="4608576" y="3977640"/>
            <a:ext cx="3035808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7D2E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7D2E2"/>
                </a:solidFill>
                <a:latin typeface="Calibri"/>
                <a:ea typeface="Calibri"/>
                <a:cs typeface="Calibri"/>
                <a:sym typeface="Calibri"/>
              </a:rPr>
              <a:t>Buscan, filtran y postulan a las licitaciones abiertas.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8119872" y="2148840"/>
            <a:ext cx="3584448" cy="3291840"/>
          </a:xfrm>
          <a:prstGeom prst="roundRect">
            <a:avLst>
              <a:gd fmla="val 2778" name="adj"/>
            </a:avLst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9546336" y="2514600"/>
            <a:ext cx="731520" cy="731520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tag_white.png" id="71" name="Google Shape;71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29216" y="269748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3"/>
          <p:cNvSpPr txBox="1"/>
          <p:nvPr/>
        </p:nvSpPr>
        <p:spPr>
          <a:xfrm>
            <a:off x="8348472" y="3474720"/>
            <a:ext cx="31272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Planes propios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 txBox="1"/>
          <p:nvPr/>
        </p:nvSpPr>
        <p:spPr>
          <a:xfrm>
            <a:off x="8394192" y="3977640"/>
            <a:ext cx="3035808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7D2E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7D2E2"/>
                </a:solidFill>
                <a:latin typeface="Calibri"/>
                <a:ea typeface="Calibri"/>
                <a:cs typeface="Calibri"/>
                <a:sym typeface="Calibri"/>
              </a:rPr>
              <a:t>La operación se financia con suscripciones, no con terceros.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Qué buscamos lograr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777240" y="2148840"/>
            <a:ext cx="1463040" cy="14630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target_gold.png" id="84" name="Google Shape;8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3000" y="2514600"/>
            <a:ext cx="731520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4"/>
          <p:cNvSpPr/>
          <p:nvPr/>
        </p:nvSpPr>
        <p:spPr>
          <a:xfrm>
            <a:off x="2606040" y="2011680"/>
            <a:ext cx="9006840" cy="18288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"/>
          <p:cNvSpPr txBox="1"/>
          <p:nvPr/>
        </p:nvSpPr>
        <p:spPr>
          <a:xfrm>
            <a:off x="2926080" y="2011680"/>
            <a:ext cx="84124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450"/>
              <a:buFont typeface="Calibri"/>
              <a:buNone/>
            </a:pPr>
            <a:r>
              <a:rPr b="0" i="0" lang="en-US" sz="14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privada, basada en microservicios, que permita a los Licitadores publicar y administrar licitaciones, a las Pymes buscar y postular, y operar el negocio mediante perfiles de usuario, planes de suscripción y una pasarela de pagos integrada — complementado con un asistente de inteligencia artificial que facilite la publicación y la postulación.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Seis frentes de trabajo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548640" y="1828800"/>
            <a:ext cx="3584448" cy="1828800"/>
          </a:xfrm>
          <a:prstGeom prst="roundRect">
            <a:avLst>
              <a:gd fmla="val 4500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userplus_white.png" id="98" name="Google Shape;9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7941" y="217810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5"/>
          <p:cNvSpPr txBox="1"/>
          <p:nvPr/>
        </p:nvSpPr>
        <p:spPr>
          <a:xfrm>
            <a:off x="777240" y="2697480"/>
            <a:ext cx="3127248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Autenticación y perfiles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 txBox="1"/>
          <p:nvPr/>
        </p:nvSpPr>
        <p:spPr>
          <a:xfrm>
            <a:off x="777240" y="3108960"/>
            <a:ext cx="31272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JWT y control de acceso por rol (RBAC).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4334256" y="1828800"/>
            <a:ext cx="3584448" cy="1828800"/>
          </a:xfrm>
          <a:prstGeom prst="roundRect">
            <a:avLst>
              <a:gd fmla="val 4500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4562856" y="2057400"/>
            <a:ext cx="502920" cy="50292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filetext_white.png" id="103" name="Google Shape;10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83557" y="217810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5"/>
          <p:cNvSpPr txBox="1"/>
          <p:nvPr/>
        </p:nvSpPr>
        <p:spPr>
          <a:xfrm>
            <a:off x="4562856" y="2697480"/>
            <a:ext cx="3127248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Publicación de licitaciones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 txBox="1"/>
          <p:nvPr/>
        </p:nvSpPr>
        <p:spPr>
          <a:xfrm>
            <a:off x="4562856" y="3108960"/>
            <a:ext cx="31272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CRUD completo para los Licitadores.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8119872" y="1828800"/>
            <a:ext cx="3584448" cy="1828800"/>
          </a:xfrm>
          <a:prstGeom prst="roundRect">
            <a:avLst>
              <a:gd fmla="val 4500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8348472" y="2057400"/>
            <a:ext cx="502920" cy="50292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search_white.png" id="108" name="Google Shape;108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69173" y="217810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5"/>
          <p:cNvSpPr txBox="1"/>
          <p:nvPr/>
        </p:nvSpPr>
        <p:spPr>
          <a:xfrm>
            <a:off x="8348472" y="2697480"/>
            <a:ext cx="3127248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Búsqueda y postulación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 txBox="1"/>
          <p:nvPr/>
        </p:nvSpPr>
        <p:spPr>
          <a:xfrm>
            <a:off x="8348472" y="3108960"/>
            <a:ext cx="31272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Las Pymes filtran y postulan.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548640" y="3858768"/>
            <a:ext cx="3584448" cy="1828800"/>
          </a:xfrm>
          <a:prstGeom prst="roundRect">
            <a:avLst>
              <a:gd fmla="val 4500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777240" y="4087368"/>
            <a:ext cx="502920" cy="50292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tag_white.png" id="113" name="Google Shape;113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97941" y="4208069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5"/>
          <p:cNvSpPr txBox="1"/>
          <p:nvPr/>
        </p:nvSpPr>
        <p:spPr>
          <a:xfrm>
            <a:off x="777240" y="4727448"/>
            <a:ext cx="3127248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Gestión de ventas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 txBox="1"/>
          <p:nvPr/>
        </p:nvSpPr>
        <p:spPr>
          <a:xfrm>
            <a:off x="777240" y="5138928"/>
            <a:ext cx="31272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Planes de suscripción y transacciones.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4334256" y="3858768"/>
            <a:ext cx="3584448" cy="1828800"/>
          </a:xfrm>
          <a:prstGeom prst="roundRect">
            <a:avLst>
              <a:gd fmla="val 4500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4562856" y="4087368"/>
            <a:ext cx="502920" cy="50292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reditcard_white.png" id="118" name="Google Shape;118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83557" y="4208069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5"/>
          <p:cNvSpPr txBox="1"/>
          <p:nvPr/>
        </p:nvSpPr>
        <p:spPr>
          <a:xfrm>
            <a:off x="4562856" y="4727448"/>
            <a:ext cx="3127248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Pasarela de pago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 txBox="1"/>
          <p:nvPr/>
        </p:nvSpPr>
        <p:spPr>
          <a:xfrm>
            <a:off x="4562856" y="5138928"/>
            <a:ext cx="31272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Cobro de los planes Estándar y Premium.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8119872" y="3858768"/>
            <a:ext cx="3584448" cy="1828800"/>
          </a:xfrm>
          <a:prstGeom prst="roundRect">
            <a:avLst>
              <a:gd fmla="val 4500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8348472" y="4087368"/>
            <a:ext cx="502920" cy="50292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settings_white.png" id="123" name="Google Shape;123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69173" y="4208069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5"/>
          <p:cNvSpPr txBox="1"/>
          <p:nvPr/>
        </p:nvSpPr>
        <p:spPr>
          <a:xfrm>
            <a:off x="8348472" y="4727448"/>
            <a:ext cx="3127248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Panel de administración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 txBox="1"/>
          <p:nvPr/>
        </p:nvSpPr>
        <p:spPr>
          <a:xfrm>
            <a:off x="8348472" y="5138928"/>
            <a:ext cx="31272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Usuarios, licitadores, pymes y licitaciones.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PERFILES DEL SISTEMA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Tres perfiles, un solo sistema de identidad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548640" y="1783080"/>
            <a:ext cx="3584448" cy="3931920"/>
          </a:xfrm>
          <a:prstGeom prst="roundRect">
            <a:avLst>
              <a:gd fmla="val 2551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804672" y="2057400"/>
            <a:ext cx="594360" cy="5943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briefcase_gold.png" id="137" name="Google Shape;13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7318" y="220004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"/>
          <p:cNvSpPr txBox="1"/>
          <p:nvPr/>
        </p:nvSpPr>
        <p:spPr>
          <a:xfrm>
            <a:off x="804672" y="2788920"/>
            <a:ext cx="307238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Licitador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804672" y="3154680"/>
            <a:ext cx="30723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Publica y administra licitaciones. Define condiciones y plazos, y revisa postulaciones.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0" name="Google Shape;140;p6"/>
          <p:cNvCxnSpPr/>
          <p:nvPr/>
        </p:nvCxnSpPr>
        <p:spPr>
          <a:xfrm>
            <a:off x="804672" y="4206240"/>
            <a:ext cx="3072384" cy="0"/>
          </a:xfrm>
          <a:prstGeom prst="straightConnector1">
            <a:avLst/>
          </a:prstGeom>
          <a:noFill/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" name="Google Shape;141;p6"/>
          <p:cNvSpPr/>
          <p:nvPr/>
        </p:nvSpPr>
        <p:spPr>
          <a:xfrm>
            <a:off x="804672" y="4407408"/>
            <a:ext cx="82296" cy="82296"/>
          </a:xfrm>
          <a:prstGeom prst="ellipse">
            <a:avLst/>
          </a:prstGeom>
          <a:solidFill>
            <a:srgbClr val="D4A24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987552" y="4361688"/>
            <a:ext cx="28895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Publicar licitación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804672" y="4791456"/>
            <a:ext cx="82296" cy="82296"/>
          </a:xfrm>
          <a:prstGeom prst="ellipse">
            <a:avLst/>
          </a:prstGeom>
          <a:solidFill>
            <a:srgbClr val="D4A24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6"/>
          <p:cNvSpPr txBox="1"/>
          <p:nvPr/>
        </p:nvSpPr>
        <p:spPr>
          <a:xfrm>
            <a:off x="987552" y="4745736"/>
            <a:ext cx="28895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Editar / cerrar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804672" y="5175504"/>
            <a:ext cx="82296" cy="82296"/>
          </a:xfrm>
          <a:prstGeom prst="ellipse">
            <a:avLst/>
          </a:prstGeom>
          <a:solidFill>
            <a:srgbClr val="D4A24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6"/>
          <p:cNvSpPr txBox="1"/>
          <p:nvPr/>
        </p:nvSpPr>
        <p:spPr>
          <a:xfrm>
            <a:off x="987552" y="5129784"/>
            <a:ext cx="28895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Ver postulantes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4334256" y="1783080"/>
            <a:ext cx="3584448" cy="3931920"/>
          </a:xfrm>
          <a:prstGeom prst="roundRect">
            <a:avLst>
              <a:gd fmla="val 2551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4590288" y="2057400"/>
            <a:ext cx="594360" cy="5943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users_gold.png" id="149" name="Google Shape;14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32934" y="220004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6"/>
          <p:cNvSpPr txBox="1"/>
          <p:nvPr/>
        </p:nvSpPr>
        <p:spPr>
          <a:xfrm>
            <a:off x="4590288" y="2788920"/>
            <a:ext cx="307238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Pyme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4590288" y="3154680"/>
            <a:ext cx="30723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Busca, revisa y postula a licitaciones publicadas. Administra su suscripción.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6"/>
          <p:cNvCxnSpPr/>
          <p:nvPr/>
        </p:nvCxnSpPr>
        <p:spPr>
          <a:xfrm>
            <a:off x="4590288" y="4206240"/>
            <a:ext cx="3072384" cy="0"/>
          </a:xfrm>
          <a:prstGeom prst="straightConnector1">
            <a:avLst/>
          </a:prstGeom>
          <a:noFill/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6"/>
          <p:cNvSpPr/>
          <p:nvPr/>
        </p:nvSpPr>
        <p:spPr>
          <a:xfrm>
            <a:off x="4590288" y="4407408"/>
            <a:ext cx="82296" cy="82296"/>
          </a:xfrm>
          <a:prstGeom prst="ellipse">
            <a:avLst/>
          </a:prstGeom>
          <a:solidFill>
            <a:srgbClr val="D4A24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4773168" y="4361688"/>
            <a:ext cx="28895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Buscar y filtrar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4590288" y="4791456"/>
            <a:ext cx="82296" cy="82296"/>
          </a:xfrm>
          <a:prstGeom prst="ellipse">
            <a:avLst/>
          </a:prstGeom>
          <a:solidFill>
            <a:srgbClr val="D4A24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6"/>
          <p:cNvSpPr txBox="1"/>
          <p:nvPr/>
        </p:nvSpPr>
        <p:spPr>
          <a:xfrm>
            <a:off x="4773168" y="4745736"/>
            <a:ext cx="28895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Postular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4590288" y="5175504"/>
            <a:ext cx="82296" cy="82296"/>
          </a:xfrm>
          <a:prstGeom prst="ellipse">
            <a:avLst/>
          </a:prstGeom>
          <a:solidFill>
            <a:srgbClr val="D4A24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6"/>
          <p:cNvSpPr txBox="1"/>
          <p:nvPr/>
        </p:nvSpPr>
        <p:spPr>
          <a:xfrm>
            <a:off x="4773168" y="5129784"/>
            <a:ext cx="28895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Ver estado de postulación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8119872" y="1783080"/>
            <a:ext cx="3584448" cy="3931920"/>
          </a:xfrm>
          <a:prstGeom prst="roundRect">
            <a:avLst>
              <a:gd fmla="val 2551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8375904" y="2057400"/>
            <a:ext cx="594360" cy="5943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shield_gold.png" id="161" name="Google Shape;161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18550" y="220004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6"/>
          <p:cNvSpPr txBox="1"/>
          <p:nvPr/>
        </p:nvSpPr>
        <p:spPr>
          <a:xfrm>
            <a:off x="8375904" y="2788920"/>
            <a:ext cx="307238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Administrador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 txBox="1"/>
          <p:nvPr/>
        </p:nvSpPr>
        <p:spPr>
          <a:xfrm>
            <a:off x="8375904" y="3154680"/>
            <a:ext cx="30723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Pertenece a LicitaWatch. Administra usuarios, licitaciones y el funcionamiento general.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4" name="Google Shape;164;p6"/>
          <p:cNvCxnSpPr/>
          <p:nvPr/>
        </p:nvCxnSpPr>
        <p:spPr>
          <a:xfrm>
            <a:off x="8375904" y="4206240"/>
            <a:ext cx="3072384" cy="0"/>
          </a:xfrm>
          <a:prstGeom prst="straightConnector1">
            <a:avLst/>
          </a:prstGeom>
          <a:noFill/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5" name="Google Shape;165;p6"/>
          <p:cNvSpPr/>
          <p:nvPr/>
        </p:nvSpPr>
        <p:spPr>
          <a:xfrm>
            <a:off x="8375904" y="4407408"/>
            <a:ext cx="82296" cy="82296"/>
          </a:xfrm>
          <a:prstGeom prst="ellipse">
            <a:avLst/>
          </a:prstGeom>
          <a:solidFill>
            <a:srgbClr val="D4A24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6"/>
          <p:cNvSpPr txBox="1"/>
          <p:nvPr/>
        </p:nvSpPr>
        <p:spPr>
          <a:xfrm>
            <a:off x="8558784" y="4361688"/>
            <a:ext cx="28895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Gestionar usuarios y roles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8375904" y="4791456"/>
            <a:ext cx="82296" cy="82296"/>
          </a:xfrm>
          <a:prstGeom prst="ellipse">
            <a:avLst/>
          </a:prstGeom>
          <a:solidFill>
            <a:srgbClr val="D4A24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6"/>
          <p:cNvSpPr txBox="1"/>
          <p:nvPr/>
        </p:nvSpPr>
        <p:spPr>
          <a:xfrm>
            <a:off x="8558784" y="4745736"/>
            <a:ext cx="28895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Moderar licitaciones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8375904" y="5175504"/>
            <a:ext cx="82296" cy="82296"/>
          </a:xfrm>
          <a:prstGeom prst="ellipse">
            <a:avLst/>
          </a:prstGeom>
          <a:solidFill>
            <a:srgbClr val="D4A24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6"/>
          <p:cNvSpPr txBox="1"/>
          <p:nvPr/>
        </p:nvSpPr>
        <p:spPr>
          <a:xfrm>
            <a:off x="8558784" y="5129784"/>
            <a:ext cx="28895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Ver ventas y suscripciones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MODELO DE NEGOCIO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Ingresos por suscripción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Dos planes financian la operación de la plataforma.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548640" y="1965960"/>
            <a:ext cx="5349240" cy="3749040"/>
          </a:xfrm>
          <a:prstGeom prst="roundRect">
            <a:avLst>
              <a:gd fmla="val 2439" name="adj"/>
            </a:avLst>
          </a:prstGeom>
          <a:solidFill>
            <a:srgbClr val="FFFFFF"/>
          </a:solidFill>
          <a:ln cap="flat" cmpd="sng" w="15225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7"/>
          <p:cNvSpPr txBox="1"/>
          <p:nvPr/>
        </p:nvSpPr>
        <p:spPr>
          <a:xfrm>
            <a:off x="868680" y="224028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5A7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3A5A78"/>
                </a:solidFill>
                <a:latin typeface="Calibri"/>
                <a:ea typeface="Calibri"/>
                <a:cs typeface="Calibri"/>
                <a:sym typeface="Calibri"/>
              </a:rPr>
              <a:t>ESTÁNDAR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 txBox="1"/>
          <p:nvPr/>
        </p:nvSpPr>
        <p:spPr>
          <a:xfrm>
            <a:off x="868680" y="2606040"/>
            <a:ext cx="4709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Acceso funcional para comenzar a publicar o postular.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868680" y="3337560"/>
            <a:ext cx="292608" cy="292608"/>
          </a:xfrm>
          <a:prstGeom prst="ellipse">
            <a:avLst/>
          </a:prstGeom>
          <a:solidFill>
            <a:srgbClr val="E1F2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185" name="Google Shape;18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7202" y="3396082"/>
            <a:ext cx="175565" cy="17556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7"/>
          <p:cNvSpPr txBox="1"/>
          <p:nvPr/>
        </p:nvSpPr>
        <p:spPr>
          <a:xfrm>
            <a:off x="1280160" y="3337560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Publicación / búsqueda con límite mensual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868680" y="3794760"/>
            <a:ext cx="292608" cy="292608"/>
          </a:xfrm>
          <a:prstGeom prst="ellipse">
            <a:avLst/>
          </a:prstGeom>
          <a:solidFill>
            <a:srgbClr val="E1F2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188" name="Google Shape;18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7202" y="3853282"/>
            <a:ext cx="175565" cy="17556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7"/>
          <p:cNvSpPr txBox="1"/>
          <p:nvPr/>
        </p:nvSpPr>
        <p:spPr>
          <a:xfrm>
            <a:off x="1280160" y="3794760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Postulaciones limitadas por mes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868680" y="4251960"/>
            <a:ext cx="292608" cy="292608"/>
          </a:xfrm>
          <a:prstGeom prst="ellipse">
            <a:avLst/>
          </a:prstGeom>
          <a:solidFill>
            <a:srgbClr val="E1F2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191" name="Google Shape;19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7202" y="4310482"/>
            <a:ext cx="175565" cy="17556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7"/>
          <p:cNvSpPr txBox="1"/>
          <p:nvPr/>
        </p:nvSpPr>
        <p:spPr>
          <a:xfrm>
            <a:off x="1280160" y="4251960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Soporte estándar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6172200" y="1965960"/>
            <a:ext cx="5349240" cy="3749040"/>
          </a:xfrm>
          <a:prstGeom prst="roundRect">
            <a:avLst>
              <a:gd fmla="val 2439" name="adj"/>
            </a:avLst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7"/>
          <p:cNvSpPr txBox="1"/>
          <p:nvPr/>
        </p:nvSpPr>
        <p:spPr>
          <a:xfrm>
            <a:off x="6492240" y="224028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PREMIUM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 txBox="1"/>
          <p:nvPr/>
        </p:nvSpPr>
        <p:spPr>
          <a:xfrm>
            <a:off x="6492240" y="2606040"/>
            <a:ext cx="4709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2E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C7D2E2"/>
                </a:solidFill>
                <a:latin typeface="Calibri"/>
                <a:ea typeface="Calibri"/>
                <a:cs typeface="Calibri"/>
                <a:sym typeface="Calibri"/>
              </a:rPr>
              <a:t>Acceso ampliado para mayor volumen de operación.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/>
          <p:nvPr/>
        </p:nvSpPr>
        <p:spPr>
          <a:xfrm>
            <a:off x="6492240" y="3337560"/>
            <a:ext cx="292608" cy="292608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197" name="Google Shape;19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50762" y="3396082"/>
            <a:ext cx="175565" cy="17556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 txBox="1"/>
          <p:nvPr/>
        </p:nvSpPr>
        <p:spPr>
          <a:xfrm>
            <a:off x="6903720" y="3337560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Publicaciones y postulaciones ilimitadas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6492240" y="3794760"/>
            <a:ext cx="292608" cy="292608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200" name="Google Shape;20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50762" y="3853282"/>
            <a:ext cx="175565" cy="17556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7"/>
          <p:cNvSpPr txBox="1"/>
          <p:nvPr/>
        </p:nvSpPr>
        <p:spPr>
          <a:xfrm>
            <a:off x="6903720" y="3794760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Prioridad de visibilidad en resultados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6492240" y="4251960"/>
            <a:ext cx="292608" cy="292608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203" name="Google Shape;20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50762" y="4310482"/>
            <a:ext cx="175565" cy="175565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7"/>
          <p:cNvSpPr txBox="1"/>
          <p:nvPr/>
        </p:nvSpPr>
        <p:spPr>
          <a:xfrm>
            <a:off x="6903720" y="4251960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Soporte prioritario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8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FLUJO PRINCIPAL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Del registro a la postulación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4" name="Google Shape;214;p8"/>
          <p:cNvCxnSpPr/>
          <p:nvPr/>
        </p:nvCxnSpPr>
        <p:spPr>
          <a:xfrm>
            <a:off x="2000250" y="2743200"/>
            <a:ext cx="8161020" cy="0"/>
          </a:xfrm>
          <a:prstGeom prst="straightConnector1">
            <a:avLst/>
          </a:prstGeom>
          <a:noFill/>
          <a:ln cap="flat" cmpd="sng" w="381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5" name="Google Shape;215;p8"/>
          <p:cNvSpPr/>
          <p:nvPr/>
        </p:nvSpPr>
        <p:spPr>
          <a:xfrm>
            <a:off x="1634490" y="2377440"/>
            <a:ext cx="731520" cy="73152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briefcase_white.png" id="216" name="Google Shape;21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17370" y="256032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8"/>
          <p:cNvSpPr/>
          <p:nvPr/>
        </p:nvSpPr>
        <p:spPr>
          <a:xfrm>
            <a:off x="749808" y="3337560"/>
            <a:ext cx="2500884" cy="1600200"/>
          </a:xfrm>
          <a:prstGeom prst="roundRect">
            <a:avLst>
              <a:gd fmla="val 4571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8"/>
          <p:cNvSpPr txBox="1"/>
          <p:nvPr/>
        </p:nvSpPr>
        <p:spPr>
          <a:xfrm>
            <a:off x="868680" y="3493008"/>
            <a:ext cx="22631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Licitador se registra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 txBox="1"/>
          <p:nvPr/>
        </p:nvSpPr>
        <p:spPr>
          <a:xfrm>
            <a:off x="868680" y="4023360"/>
            <a:ext cx="22631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Elige un plan y publica su licitación.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4354830" y="2377440"/>
            <a:ext cx="731520" cy="73152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search_white.png" id="221" name="Google Shape;22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37710" y="256032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8"/>
          <p:cNvSpPr/>
          <p:nvPr/>
        </p:nvSpPr>
        <p:spPr>
          <a:xfrm>
            <a:off x="3470148" y="3337560"/>
            <a:ext cx="2500884" cy="1600200"/>
          </a:xfrm>
          <a:prstGeom prst="roundRect">
            <a:avLst>
              <a:gd fmla="val 4571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8"/>
          <p:cNvSpPr txBox="1"/>
          <p:nvPr/>
        </p:nvSpPr>
        <p:spPr>
          <a:xfrm>
            <a:off x="3589020" y="3493008"/>
            <a:ext cx="22631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Pyme busca y postula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 txBox="1"/>
          <p:nvPr/>
        </p:nvSpPr>
        <p:spPr>
          <a:xfrm>
            <a:off x="3589020" y="4023360"/>
            <a:ext cx="22631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Filtra licitaciones y envía su propuesta.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7075170" y="2377440"/>
            <a:ext cx="731520" cy="73152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226" name="Google Shape;22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58050" y="256032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8"/>
          <p:cNvSpPr/>
          <p:nvPr/>
        </p:nvSpPr>
        <p:spPr>
          <a:xfrm>
            <a:off x="6190488" y="3337560"/>
            <a:ext cx="2500884" cy="1600200"/>
          </a:xfrm>
          <a:prstGeom prst="roundRect">
            <a:avLst>
              <a:gd fmla="val 4571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8"/>
          <p:cNvSpPr txBox="1"/>
          <p:nvPr/>
        </p:nvSpPr>
        <p:spPr>
          <a:xfrm>
            <a:off x="6309360" y="3493008"/>
            <a:ext cx="22631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Licitador decide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 txBox="1"/>
          <p:nvPr/>
        </p:nvSpPr>
        <p:spPr>
          <a:xfrm>
            <a:off x="6309360" y="4023360"/>
            <a:ext cx="22631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Revisa postulaciones y elige.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9795510" y="2377440"/>
            <a:ext cx="731520" cy="731520"/>
          </a:xfrm>
          <a:prstGeom prst="ellipse">
            <a:avLst/>
          </a:prstGeom>
          <a:solidFill>
            <a:srgbClr val="3A5A7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mail_white.png" id="231" name="Google Shape;231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78390" y="256032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8"/>
          <p:cNvSpPr/>
          <p:nvPr/>
        </p:nvSpPr>
        <p:spPr>
          <a:xfrm>
            <a:off x="8910828" y="3337560"/>
            <a:ext cx="2500884" cy="1600200"/>
          </a:xfrm>
          <a:prstGeom prst="roundRect">
            <a:avLst>
              <a:gd fmla="val 4571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8"/>
          <p:cNvSpPr txBox="1"/>
          <p:nvPr/>
        </p:nvSpPr>
        <p:spPr>
          <a:xfrm>
            <a:off x="9029700" y="3493008"/>
            <a:ext cx="22631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Notificación automática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8"/>
          <p:cNvSpPr txBox="1"/>
          <p:nvPr/>
        </p:nvSpPr>
        <p:spPr>
          <a:xfrm>
            <a:off x="9029700" y="4023360"/>
            <a:ext cx="22631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Ambas partes reciben aviso por correo.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294B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9"/>
          <p:cNvSpPr/>
          <p:nvPr/>
        </p:nvSpPr>
        <p:spPr>
          <a:xfrm>
            <a:off x="9875520" y="-1463040"/>
            <a:ext cx="4389120" cy="4389120"/>
          </a:xfrm>
          <a:prstGeom prst="ellipse">
            <a:avLst/>
          </a:prstGeom>
          <a:solidFill>
            <a:srgbClr val="0B1A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9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INNOVACIÓN DEL PROYECTO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9"/>
          <p:cNvSpPr txBox="1"/>
          <p:nvPr/>
        </p:nvSpPr>
        <p:spPr>
          <a:xfrm>
            <a:off x="548640" y="676656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LicitAsist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9"/>
          <p:cNvSpPr txBox="1"/>
          <p:nvPr/>
        </p:nvSpPr>
        <p:spPr>
          <a:xfrm>
            <a:off x="548640" y="1353312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2E2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C7D2E2"/>
                </a:solidFill>
                <a:latin typeface="Calibri"/>
                <a:ea typeface="Calibri"/>
                <a:cs typeface="Calibri"/>
                <a:sym typeface="Calibri"/>
              </a:rPr>
              <a:t>Asistente conversacional con inteligencia artificial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9"/>
          <p:cNvSpPr/>
          <p:nvPr/>
        </p:nvSpPr>
        <p:spPr>
          <a:xfrm>
            <a:off x="548640" y="2011680"/>
            <a:ext cx="3584448" cy="2103120"/>
          </a:xfrm>
          <a:prstGeom prst="roundRect">
            <a:avLst>
              <a:gd fmla="val 4348" name="adj"/>
            </a:avLst>
          </a:prstGeom>
          <a:solidFill>
            <a:srgbClr val="1B2E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777240" y="2240280"/>
            <a:ext cx="502920" cy="502920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alert_white.png" id="248" name="Google Shape;24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7941" y="236098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9"/>
          <p:cNvSpPr txBox="1"/>
          <p:nvPr/>
        </p:nvSpPr>
        <p:spPr>
          <a:xfrm>
            <a:off x="1371600" y="2267712"/>
            <a:ext cx="25786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9"/>
          <p:cNvSpPr txBox="1"/>
          <p:nvPr/>
        </p:nvSpPr>
        <p:spPr>
          <a:xfrm>
            <a:off x="777240" y="2880360"/>
            <a:ext cx="3127248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7D2E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C7D2E2"/>
                </a:solidFill>
                <a:latin typeface="Calibri"/>
                <a:ea typeface="Calibri"/>
                <a:cs typeface="Calibri"/>
                <a:sym typeface="Calibri"/>
              </a:rPr>
              <a:t>Licitadores y Pymes pierden tiempo revisando manualmente licitaciones, postulaciones y planes.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4334256" y="2011680"/>
            <a:ext cx="3584448" cy="2103120"/>
          </a:xfrm>
          <a:prstGeom prst="roundRect">
            <a:avLst>
              <a:gd fmla="val 4348" name="adj"/>
            </a:avLst>
          </a:prstGeom>
          <a:solidFill>
            <a:srgbClr val="1B2E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4562856" y="2240280"/>
            <a:ext cx="502920" cy="502920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message_white.png" id="253" name="Google Shape;253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83557" y="236098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9"/>
          <p:cNvSpPr txBox="1"/>
          <p:nvPr/>
        </p:nvSpPr>
        <p:spPr>
          <a:xfrm>
            <a:off x="5157216" y="2267712"/>
            <a:ext cx="25786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 txBox="1"/>
          <p:nvPr/>
        </p:nvSpPr>
        <p:spPr>
          <a:xfrm>
            <a:off x="4562856" y="2880360"/>
            <a:ext cx="3127248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7D2E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C7D2E2"/>
                </a:solidFill>
                <a:latin typeface="Calibri"/>
                <a:ea typeface="Calibri"/>
                <a:cs typeface="Calibri"/>
                <a:sym typeface="Calibri"/>
              </a:rPr>
              <a:t>Chatbot integrado que usa datos reales de la plataforma vía Groq API.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8119872" y="2011680"/>
            <a:ext cx="3584448" cy="2103120"/>
          </a:xfrm>
          <a:prstGeom prst="roundRect">
            <a:avLst>
              <a:gd fmla="val 4348" name="adj"/>
            </a:avLst>
          </a:prstGeom>
          <a:solidFill>
            <a:srgbClr val="1B2E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8348472" y="2240280"/>
            <a:ext cx="502920" cy="502920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zap_gold.png" id="258" name="Google Shape;258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69173" y="236098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9"/>
          <p:cNvSpPr txBox="1"/>
          <p:nvPr/>
        </p:nvSpPr>
        <p:spPr>
          <a:xfrm>
            <a:off x="8942832" y="2267712"/>
            <a:ext cx="25786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Beneficio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 txBox="1"/>
          <p:nvPr/>
        </p:nvSpPr>
        <p:spPr>
          <a:xfrm>
            <a:off x="8348472" y="2880360"/>
            <a:ext cx="3127248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7D2E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C7D2E2"/>
                </a:solidFill>
                <a:latin typeface="Calibri"/>
                <a:ea typeface="Calibri"/>
                <a:cs typeface="Calibri"/>
                <a:sym typeface="Calibri"/>
              </a:rPr>
              <a:t>Respuestas instantáneas, decisiones más rápidas y menor carga operativa.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548640" y="4343400"/>
            <a:ext cx="11064240" cy="1417320"/>
          </a:xfrm>
          <a:prstGeom prst="roundRect">
            <a:avLst>
              <a:gd fmla="val 6452" name="adj"/>
            </a:avLst>
          </a:prstGeom>
          <a:solidFill>
            <a:srgbClr val="1B2E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868680" y="452628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2E2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C7D2E2"/>
                </a:solidFill>
                <a:latin typeface="Calibri"/>
                <a:ea typeface="Calibri"/>
                <a:cs typeface="Calibri"/>
                <a:sym typeface="Calibri"/>
              </a:rPr>
              <a:t>“¿Qué licitaciones de tecnología están abiertas y cierran esta semana?”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 txBox="1"/>
          <p:nvPr/>
        </p:nvSpPr>
        <p:spPr>
          <a:xfrm>
            <a:off x="868680" y="4937760"/>
            <a:ext cx="104241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Hay 3 abiertas que cierran esta semana: “Soporte técnico TI” (2 días), “Desarrollo de sitio web” (4 días) y “Auditoría de ciberseguridad” (5 días). ¿Te ayudo a postular a alguna?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FA3BD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8FA3BD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FA3BD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8FA3B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0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ARQUITECTURA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0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Microservicios, cada uno con su propia base de datos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0"/>
          <p:cNvSpPr/>
          <p:nvPr/>
        </p:nvSpPr>
        <p:spPr>
          <a:xfrm>
            <a:off x="548640" y="2148840"/>
            <a:ext cx="2084832" cy="228600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0"/>
          <p:cNvSpPr/>
          <p:nvPr/>
        </p:nvSpPr>
        <p:spPr>
          <a:xfrm>
            <a:off x="1335024" y="2404872"/>
            <a:ext cx="512064" cy="512064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userplus_white.png" id="275" name="Google Shape;27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57919" y="2527767"/>
            <a:ext cx="266273" cy="266273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0"/>
          <p:cNvSpPr txBox="1"/>
          <p:nvPr/>
        </p:nvSpPr>
        <p:spPr>
          <a:xfrm>
            <a:off x="685800" y="3063240"/>
            <a:ext cx="181051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Service </a:t>
            </a:r>
            <a:r>
              <a:rPr b="1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Usuarios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0"/>
          <p:cNvSpPr txBox="1"/>
          <p:nvPr/>
        </p:nvSpPr>
        <p:spPr>
          <a:xfrm>
            <a:off x="685800" y="3566160"/>
            <a:ext cx="1810512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Autenticación, perfiles y roles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/>
          <p:nvPr/>
        </p:nvSpPr>
        <p:spPr>
          <a:xfrm>
            <a:off x="2798064" y="2148840"/>
            <a:ext cx="2084832" cy="228600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3584448" y="2404872"/>
            <a:ext cx="512064" cy="512064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filetext_white.png" id="280" name="Google Shape;280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07343" y="2527767"/>
            <a:ext cx="266273" cy="266273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10"/>
          <p:cNvSpPr txBox="1"/>
          <p:nvPr/>
        </p:nvSpPr>
        <p:spPr>
          <a:xfrm>
            <a:off x="2935224" y="3063240"/>
            <a:ext cx="181051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Service </a:t>
            </a:r>
            <a:r>
              <a:rPr b="1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Licitaciones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 txBox="1"/>
          <p:nvPr/>
        </p:nvSpPr>
        <p:spPr>
          <a:xfrm>
            <a:off x="2935224" y="3566160"/>
            <a:ext cx="1810512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Publicación, búsqueda y postulación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5047488" y="2148840"/>
            <a:ext cx="2084832" cy="228600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5833872" y="2404872"/>
            <a:ext cx="512064" cy="512064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tag_white.png" id="285" name="Google Shape;285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56767" y="2527767"/>
            <a:ext cx="266273" cy="266273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0"/>
          <p:cNvSpPr txBox="1"/>
          <p:nvPr/>
        </p:nvSpPr>
        <p:spPr>
          <a:xfrm>
            <a:off x="5184648" y="3063240"/>
            <a:ext cx="181051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Service</a:t>
            </a:r>
            <a:r>
              <a:rPr b="1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 Ventas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0"/>
          <p:cNvSpPr txBox="1"/>
          <p:nvPr/>
        </p:nvSpPr>
        <p:spPr>
          <a:xfrm>
            <a:off x="5184648" y="3566160"/>
            <a:ext cx="1810512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Planes, suscripciones y pagos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7296912" y="2148840"/>
            <a:ext cx="2084700" cy="228600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8083296" y="2404872"/>
            <a:ext cx="512064" cy="512064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mail_white.png" id="290" name="Google Shape;290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206191" y="2527767"/>
            <a:ext cx="266273" cy="266273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10"/>
          <p:cNvSpPr txBox="1"/>
          <p:nvPr/>
        </p:nvSpPr>
        <p:spPr>
          <a:xfrm>
            <a:off x="7434072" y="3063240"/>
            <a:ext cx="181051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Service </a:t>
            </a:r>
            <a:r>
              <a:rPr b="1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 Notificaciones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0"/>
          <p:cNvSpPr txBox="1"/>
          <p:nvPr/>
        </p:nvSpPr>
        <p:spPr>
          <a:xfrm>
            <a:off x="7434072" y="3566160"/>
            <a:ext cx="1810512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Alertas y confirmaciones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9546336" y="2148840"/>
            <a:ext cx="2084700" cy="228600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0"/>
          <p:cNvSpPr/>
          <p:nvPr/>
        </p:nvSpPr>
        <p:spPr>
          <a:xfrm>
            <a:off x="10332720" y="2404872"/>
            <a:ext cx="512100" cy="51210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message_white.png" id="295" name="Google Shape;295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55615" y="2527767"/>
            <a:ext cx="266273" cy="266273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0"/>
          <p:cNvSpPr txBox="1"/>
          <p:nvPr/>
        </p:nvSpPr>
        <p:spPr>
          <a:xfrm>
            <a:off x="9683496" y="3063240"/>
            <a:ext cx="18105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Service </a:t>
            </a:r>
            <a:r>
              <a:rPr b="1" i="0" lang="en-US" sz="11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 Asistente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0"/>
          <p:cNvSpPr txBox="1"/>
          <p:nvPr/>
        </p:nvSpPr>
        <p:spPr>
          <a:xfrm>
            <a:off x="9683496" y="3566160"/>
            <a:ext cx="1810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Orquesta LicitAsist (sin BD propia)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548640" y="4754880"/>
            <a:ext cx="11064240" cy="960120"/>
          </a:xfrm>
          <a:prstGeom prst="roundRect">
            <a:avLst>
              <a:gd fmla="val 7619" name="adj"/>
            </a:avLst>
          </a:prstGeom>
          <a:solidFill>
            <a:srgbClr val="F2E3C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0"/>
          <p:cNvSpPr txBox="1"/>
          <p:nvPr/>
        </p:nvSpPr>
        <p:spPr>
          <a:xfrm>
            <a:off x="822960" y="4754880"/>
            <a:ext cx="106070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Cada microservicio </a:t>
            </a:r>
            <a:r>
              <a:rPr b="1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expone su propia API REST y conserva su propia base de datos PostgreSQL</a:t>
            </a: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 — no existe acceso directo entre bases de datos de distintos servicios. Backend en Java con Spring Boot; frontend en React.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0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ARQUITECTURA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1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Cómo se comunican los microservicios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 txBox="1"/>
          <p:nvPr/>
        </p:nvSpPr>
        <p:spPr>
          <a:xfrm>
            <a:off x="548640" y="1371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Todo el tráfico entra por un único punto de control.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1"/>
          <p:cNvSpPr/>
          <p:nvPr/>
        </p:nvSpPr>
        <p:spPr>
          <a:xfrm>
            <a:off x="563878" y="1783075"/>
            <a:ext cx="11064300" cy="502800"/>
          </a:xfrm>
          <a:prstGeom prst="roundRect">
            <a:avLst>
              <a:gd fmla="val 14545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713232" y="1911096"/>
            <a:ext cx="338328" cy="338328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monitor_gold.png" id="312" name="Google Shape;31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9356" y="1987220"/>
            <a:ext cx="186080" cy="18608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1"/>
          <p:cNvSpPr txBox="1"/>
          <p:nvPr/>
        </p:nvSpPr>
        <p:spPr>
          <a:xfrm>
            <a:off x="1188720" y="182880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Frontend — React + TypeScript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4" name="Google Shape;314;p11"/>
          <p:cNvCxnSpPr/>
          <p:nvPr/>
        </p:nvCxnSpPr>
        <p:spPr>
          <a:xfrm>
            <a:off x="6080760" y="2331720"/>
            <a:ext cx="0" cy="201168"/>
          </a:xfrm>
          <a:prstGeom prst="straightConnector1">
            <a:avLst/>
          </a:prstGeom>
          <a:noFill/>
          <a:ln cap="flat" cmpd="sng" w="19050">
            <a:solidFill>
              <a:srgbClr val="5C6B7A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15" name="Google Shape;315;p11"/>
          <p:cNvSpPr/>
          <p:nvPr/>
        </p:nvSpPr>
        <p:spPr>
          <a:xfrm>
            <a:off x="548640" y="2542032"/>
            <a:ext cx="11064240" cy="1188720"/>
          </a:xfrm>
          <a:prstGeom prst="roundRect">
            <a:avLst>
              <a:gd fmla="val 6923" name="adj"/>
            </a:avLst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1"/>
          <p:cNvSpPr/>
          <p:nvPr/>
        </p:nvSpPr>
        <p:spPr>
          <a:xfrm>
            <a:off x="822960" y="2688336"/>
            <a:ext cx="502920" cy="502920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shield_gold.png" id="317" name="Google Shape;31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3661" y="2809037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11"/>
          <p:cNvSpPr txBox="1"/>
          <p:nvPr/>
        </p:nvSpPr>
        <p:spPr>
          <a:xfrm>
            <a:off x="1463040" y="2688336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API Gateway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1"/>
          <p:cNvSpPr/>
          <p:nvPr/>
        </p:nvSpPr>
        <p:spPr>
          <a:xfrm>
            <a:off x="822960" y="3291840"/>
            <a:ext cx="580644" cy="347472"/>
          </a:xfrm>
          <a:prstGeom prst="roundRect">
            <a:avLst>
              <a:gd fmla="val 50000" name="adj"/>
            </a:avLst>
          </a:prstGeom>
          <a:solidFill>
            <a:srgbClr val="24365C"/>
          </a:solidFill>
          <a:ln cap="flat" cmpd="sng" w="9525">
            <a:solidFill>
              <a:srgbClr val="3A5A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1"/>
          <p:cNvSpPr txBox="1"/>
          <p:nvPr/>
        </p:nvSpPr>
        <p:spPr>
          <a:xfrm>
            <a:off x="822960" y="3291840"/>
            <a:ext cx="58064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JWT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1"/>
          <p:cNvSpPr/>
          <p:nvPr/>
        </p:nvSpPr>
        <p:spPr>
          <a:xfrm>
            <a:off x="1549908" y="3291840"/>
            <a:ext cx="667512" cy="347472"/>
          </a:xfrm>
          <a:prstGeom prst="roundRect">
            <a:avLst>
              <a:gd fmla="val 50000" name="adj"/>
            </a:avLst>
          </a:prstGeom>
          <a:solidFill>
            <a:srgbClr val="24365C"/>
          </a:solidFill>
          <a:ln cap="flat" cmpd="sng" w="9525">
            <a:solidFill>
              <a:srgbClr val="3A5A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1"/>
          <p:cNvSpPr txBox="1"/>
          <p:nvPr/>
        </p:nvSpPr>
        <p:spPr>
          <a:xfrm>
            <a:off x="1549908" y="3291840"/>
            <a:ext cx="66751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RBAC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1"/>
          <p:cNvSpPr/>
          <p:nvPr/>
        </p:nvSpPr>
        <p:spPr>
          <a:xfrm>
            <a:off x="2363724" y="3291840"/>
            <a:ext cx="667512" cy="347472"/>
          </a:xfrm>
          <a:prstGeom prst="roundRect">
            <a:avLst>
              <a:gd fmla="val 50000" name="adj"/>
            </a:avLst>
          </a:prstGeom>
          <a:solidFill>
            <a:srgbClr val="24365C"/>
          </a:solidFill>
          <a:ln cap="flat" cmpd="sng" w="9525">
            <a:solidFill>
              <a:srgbClr val="3A5A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1"/>
          <p:cNvSpPr txBox="1"/>
          <p:nvPr/>
        </p:nvSpPr>
        <p:spPr>
          <a:xfrm>
            <a:off x="2363724" y="3291840"/>
            <a:ext cx="66751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1"/>
          <p:cNvSpPr/>
          <p:nvPr/>
        </p:nvSpPr>
        <p:spPr>
          <a:xfrm>
            <a:off x="3177540" y="3291840"/>
            <a:ext cx="1188720" cy="347472"/>
          </a:xfrm>
          <a:prstGeom prst="roundRect">
            <a:avLst>
              <a:gd fmla="val 50000" name="adj"/>
            </a:avLst>
          </a:prstGeom>
          <a:solidFill>
            <a:srgbClr val="24365C"/>
          </a:solidFill>
          <a:ln cap="flat" cmpd="sng" w="9525">
            <a:solidFill>
              <a:srgbClr val="3A5A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1"/>
          <p:cNvSpPr txBox="1"/>
          <p:nvPr/>
        </p:nvSpPr>
        <p:spPr>
          <a:xfrm>
            <a:off x="3177540" y="3291840"/>
            <a:ext cx="1188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Rate limit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1"/>
          <p:cNvSpPr/>
          <p:nvPr/>
        </p:nvSpPr>
        <p:spPr>
          <a:xfrm>
            <a:off x="4512564" y="3291840"/>
            <a:ext cx="1449324" cy="347472"/>
          </a:xfrm>
          <a:prstGeom prst="roundRect">
            <a:avLst>
              <a:gd fmla="val 50000" name="adj"/>
            </a:avLst>
          </a:prstGeom>
          <a:solidFill>
            <a:srgbClr val="24365C"/>
          </a:solidFill>
          <a:ln cap="flat" cmpd="sng" w="9525">
            <a:solidFill>
              <a:srgbClr val="3A5A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1"/>
          <p:cNvSpPr txBox="1"/>
          <p:nvPr/>
        </p:nvSpPr>
        <p:spPr>
          <a:xfrm>
            <a:off x="4512564" y="3291840"/>
            <a:ext cx="14493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SQL injection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9" name="Google Shape;329;p11"/>
          <p:cNvCxnSpPr/>
          <p:nvPr/>
        </p:nvCxnSpPr>
        <p:spPr>
          <a:xfrm>
            <a:off x="6080760" y="3730752"/>
            <a:ext cx="0" cy="182880"/>
          </a:xfrm>
          <a:prstGeom prst="straightConnector1">
            <a:avLst/>
          </a:prstGeom>
          <a:noFill/>
          <a:ln cap="flat" cmpd="sng" w="19050">
            <a:solidFill>
              <a:srgbClr val="5C6B7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0" name="Google Shape;330;p11"/>
          <p:cNvCxnSpPr/>
          <p:nvPr/>
        </p:nvCxnSpPr>
        <p:spPr>
          <a:xfrm flipH="1" rot="10800000">
            <a:off x="1020675" y="3898850"/>
            <a:ext cx="11148000" cy="57900"/>
          </a:xfrm>
          <a:prstGeom prst="straightConnector1">
            <a:avLst/>
          </a:prstGeom>
          <a:noFill/>
          <a:ln cap="flat" cmpd="sng" w="19050">
            <a:solidFill>
              <a:srgbClr val="5C6B7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1" name="Google Shape;331;p11"/>
          <p:cNvSpPr/>
          <p:nvPr/>
        </p:nvSpPr>
        <p:spPr>
          <a:xfrm>
            <a:off x="994375" y="4089613"/>
            <a:ext cx="1723800" cy="1289400"/>
          </a:xfrm>
          <a:prstGeom prst="roundRect">
            <a:avLst>
              <a:gd fmla="val 5806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1618488" y="4387991"/>
            <a:ext cx="475500" cy="47550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userplus_white.png" id="333" name="Google Shape;333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32605" y="4502108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11"/>
          <p:cNvSpPr txBox="1"/>
          <p:nvPr/>
        </p:nvSpPr>
        <p:spPr>
          <a:xfrm>
            <a:off x="994351" y="5012136"/>
            <a:ext cx="1723800" cy="33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API Usuarios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1"/>
          <p:cNvSpPr/>
          <p:nvPr/>
        </p:nvSpPr>
        <p:spPr>
          <a:xfrm>
            <a:off x="3262300" y="4057050"/>
            <a:ext cx="1895700" cy="1353300"/>
          </a:xfrm>
          <a:prstGeom prst="roundRect">
            <a:avLst>
              <a:gd fmla="val 5806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3947378" y="4332578"/>
            <a:ext cx="475500" cy="47550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filetext_white.png" id="337" name="Google Shape;337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061494" y="4446695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11"/>
          <p:cNvSpPr txBox="1"/>
          <p:nvPr/>
        </p:nvSpPr>
        <p:spPr>
          <a:xfrm>
            <a:off x="2968970" y="4954370"/>
            <a:ext cx="243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API Licitaciones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/>
          <p:nvPr/>
        </p:nvSpPr>
        <p:spPr>
          <a:xfrm>
            <a:off x="5687963" y="4057663"/>
            <a:ext cx="1723800" cy="1353300"/>
          </a:xfrm>
          <a:prstGeom prst="roundRect">
            <a:avLst>
              <a:gd fmla="val 5806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6328817" y="4194941"/>
            <a:ext cx="475500" cy="47550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tag_white.png" id="341" name="Google Shape;341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42934" y="4309058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11"/>
          <p:cNvSpPr txBox="1"/>
          <p:nvPr/>
        </p:nvSpPr>
        <p:spPr>
          <a:xfrm>
            <a:off x="5350409" y="4816733"/>
            <a:ext cx="243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API MS-Ventas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1"/>
          <p:cNvSpPr/>
          <p:nvPr/>
        </p:nvSpPr>
        <p:spPr>
          <a:xfrm>
            <a:off x="8081625" y="4057663"/>
            <a:ext cx="1895700" cy="1417200"/>
          </a:xfrm>
          <a:prstGeom prst="roundRect">
            <a:avLst>
              <a:gd fmla="val 5806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1"/>
          <p:cNvSpPr/>
          <p:nvPr/>
        </p:nvSpPr>
        <p:spPr>
          <a:xfrm>
            <a:off x="8737307" y="4226891"/>
            <a:ext cx="475500" cy="47550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mail_white.png" id="345" name="Google Shape;345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851424" y="4341008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1"/>
          <p:cNvSpPr txBox="1"/>
          <p:nvPr/>
        </p:nvSpPr>
        <p:spPr>
          <a:xfrm>
            <a:off x="7758899" y="4848683"/>
            <a:ext cx="243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API Notificaciones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274328" y="5737863"/>
            <a:ext cx="11064300" cy="621900"/>
          </a:xfrm>
          <a:prstGeom prst="roundRect">
            <a:avLst>
              <a:gd fmla="val 11765" name="adj"/>
            </a:avLst>
          </a:prstGeom>
          <a:solidFill>
            <a:srgbClr val="F2E3C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1"/>
          <p:cNvSpPr txBox="1"/>
          <p:nvPr/>
        </p:nvSpPr>
        <p:spPr>
          <a:xfrm>
            <a:off x="548647" y="5737863"/>
            <a:ext cx="10607100" cy="62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API Notificaciones también recibe llamadas REST directas de </a:t>
            </a:r>
            <a:r>
              <a:rPr lang="en-US" sz="1200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Usuarios,</a:t>
            </a:r>
            <a:r>
              <a:rPr b="0" i="0" lang="en-US" sz="12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 Licitaciones y MS-Ventas cuando ocurre un evento — sin bus de mensajería.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1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1"/>
          <p:cNvSpPr/>
          <p:nvPr/>
        </p:nvSpPr>
        <p:spPr>
          <a:xfrm>
            <a:off x="10538400" y="4004125"/>
            <a:ext cx="1653600" cy="141720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 cap="flat" cmpd="sng" w="10075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2525" lIns="72525" spcFirstLastPara="1" rIns="72525" wrap="square" tIns="72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0"/>
              <a:buFont typeface="Arial"/>
              <a:buNone/>
            </a:pPr>
            <a:r>
              <a:t/>
            </a:r>
            <a:endParaRPr b="0" i="0" sz="111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1"/>
          <p:cNvSpPr/>
          <p:nvPr/>
        </p:nvSpPr>
        <p:spPr>
          <a:xfrm>
            <a:off x="11162140" y="4144136"/>
            <a:ext cx="406200" cy="40620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72525" lIns="72525" spcFirstLastPara="1" rIns="72525" wrap="square" tIns="72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0"/>
              <a:buFont typeface="Arial"/>
              <a:buNone/>
            </a:pPr>
            <a:r>
              <a:t/>
            </a:r>
            <a:endParaRPr b="0" i="0" sz="111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message_white.png" id="353" name="Google Shape;353;p1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259617" y="4241612"/>
            <a:ext cx="211199" cy="211199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11"/>
          <p:cNvSpPr txBox="1"/>
          <p:nvPr/>
        </p:nvSpPr>
        <p:spPr>
          <a:xfrm>
            <a:off x="10647194" y="4708693"/>
            <a:ext cx="1436100" cy="3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250" lIns="72525" spcFirstLastPara="1" rIns="72525" wrap="square" tIns="36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912"/>
              <a:buFont typeface="Calibri"/>
              <a:buNone/>
            </a:pPr>
            <a:r>
              <a:rPr b="1" lang="en-US" sz="1200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Service  Asistente</a:t>
            </a:r>
            <a:endParaRPr b="0" i="0" sz="91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5" name="Google Shape;355;p11"/>
          <p:cNvCxnSpPr/>
          <p:nvPr/>
        </p:nvCxnSpPr>
        <p:spPr>
          <a:xfrm>
            <a:off x="11365210" y="3894665"/>
            <a:ext cx="0" cy="183000"/>
          </a:xfrm>
          <a:prstGeom prst="straightConnector1">
            <a:avLst/>
          </a:prstGeom>
          <a:noFill/>
          <a:ln cap="flat" cmpd="sng" w="19050">
            <a:solidFill>
              <a:srgbClr val="5C6B7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56" name="Google Shape;356;p11"/>
          <p:cNvCxnSpPr/>
          <p:nvPr/>
        </p:nvCxnSpPr>
        <p:spPr>
          <a:xfrm>
            <a:off x="1781335" y="3922140"/>
            <a:ext cx="0" cy="183000"/>
          </a:xfrm>
          <a:prstGeom prst="straightConnector1">
            <a:avLst/>
          </a:prstGeom>
          <a:noFill/>
          <a:ln cap="flat" cmpd="sng" w="19050">
            <a:solidFill>
              <a:srgbClr val="5C6B7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57" name="Google Shape;357;p11"/>
          <p:cNvCxnSpPr>
            <a:endCxn id="339" idx="0"/>
          </p:cNvCxnSpPr>
          <p:nvPr/>
        </p:nvCxnSpPr>
        <p:spPr>
          <a:xfrm>
            <a:off x="6549863" y="3928363"/>
            <a:ext cx="0" cy="129300"/>
          </a:xfrm>
          <a:prstGeom prst="straightConnector1">
            <a:avLst/>
          </a:prstGeom>
          <a:noFill/>
          <a:ln cap="flat" cmpd="sng" w="19050">
            <a:solidFill>
              <a:srgbClr val="5C6B7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58" name="Google Shape;358;p11"/>
          <p:cNvCxnSpPr>
            <a:endCxn id="335" idx="0"/>
          </p:cNvCxnSpPr>
          <p:nvPr/>
        </p:nvCxnSpPr>
        <p:spPr>
          <a:xfrm>
            <a:off x="4210150" y="3940050"/>
            <a:ext cx="0" cy="117000"/>
          </a:xfrm>
          <a:prstGeom prst="straightConnector1">
            <a:avLst/>
          </a:prstGeom>
          <a:noFill/>
          <a:ln cap="flat" cmpd="sng" w="19050">
            <a:solidFill>
              <a:srgbClr val="5C6B7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59" name="Google Shape;359;p11"/>
          <p:cNvCxnSpPr/>
          <p:nvPr/>
        </p:nvCxnSpPr>
        <p:spPr>
          <a:xfrm>
            <a:off x="9029485" y="3887315"/>
            <a:ext cx="0" cy="183000"/>
          </a:xfrm>
          <a:prstGeom prst="straightConnector1">
            <a:avLst/>
          </a:prstGeom>
          <a:noFill/>
          <a:ln cap="flat" cmpd="sng" w="19050">
            <a:solidFill>
              <a:srgbClr val="5C6B7A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h2b446a4234812dac_0_4" title="WhatsApp Image 2026-10-01 at 11.26.37 PM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6700" y="661675"/>
            <a:ext cx="11578200" cy="5670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12"/>
          <p:cNvSpPr txBox="1"/>
          <p:nvPr/>
        </p:nvSpPr>
        <p:spPr>
          <a:xfrm>
            <a:off x="408940" y="-2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MODELO DE DATOS · API USUARIOS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2"/>
          <p:cNvSpPr txBox="1"/>
          <p:nvPr/>
        </p:nvSpPr>
        <p:spPr>
          <a:xfrm>
            <a:off x="408940" y="207681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El núcleo de identidad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2"/>
          <p:cNvSpPr txBox="1"/>
          <p:nvPr/>
        </p:nvSpPr>
        <p:spPr>
          <a:xfrm>
            <a:off x="408940" y="796475"/>
            <a:ext cx="10515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Un usuario base, especializado por rol — normalizado, sin duplicar datos.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2"/>
          <p:cNvSpPr/>
          <p:nvPr/>
        </p:nvSpPr>
        <p:spPr>
          <a:xfrm>
            <a:off x="49665" y="5688765"/>
            <a:ext cx="11064300" cy="731400"/>
          </a:xfrm>
          <a:prstGeom prst="roundRect">
            <a:avLst>
              <a:gd fmla="val 10000" name="adj"/>
            </a:avLst>
          </a:prstGeom>
          <a:solidFill>
            <a:srgbClr val="F2E3C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2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7" name="Google Shape;377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50" y="1238550"/>
            <a:ext cx="8379625" cy="445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3"/>
          <p:cNvSpPr txBox="1"/>
          <p:nvPr/>
        </p:nvSpPr>
        <p:spPr>
          <a:xfrm>
            <a:off x="293840" y="65573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MODELO DE DATOS · API LICITACIONES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3"/>
          <p:cNvSpPr txBox="1"/>
          <p:nvPr/>
        </p:nvSpPr>
        <p:spPr>
          <a:xfrm>
            <a:off x="293840" y="358181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Una licitación, muchas postulaciones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3"/>
          <p:cNvSpPr txBox="1"/>
          <p:nvPr/>
        </p:nvSpPr>
        <p:spPr>
          <a:xfrm>
            <a:off x="293840" y="1053125"/>
            <a:ext cx="10515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Relación 1 : N — cada licitación puede recibir varias postulaciones.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8" name="Google Shape;38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975" y="1388988"/>
            <a:ext cx="8738626" cy="4758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13"/>
          <p:cNvSpPr/>
          <p:nvPr/>
        </p:nvSpPr>
        <p:spPr>
          <a:xfrm>
            <a:off x="19490" y="6126590"/>
            <a:ext cx="11064300" cy="731400"/>
          </a:xfrm>
          <a:prstGeom prst="roundRect">
            <a:avLst>
              <a:gd fmla="val 10000" name="adj"/>
            </a:avLst>
          </a:prstGeom>
          <a:solidFill>
            <a:srgbClr val="F2E3C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4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MODELO DE DATOS · API MS-VENTAS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4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De la suscripción al pago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4"/>
          <p:cNvSpPr txBox="1"/>
          <p:nvPr/>
        </p:nvSpPr>
        <p:spPr>
          <a:xfrm>
            <a:off x="548640" y="1371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El flujo va en cadena: un plan da origen a una suscripción, una venta y un pago.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4"/>
          <p:cNvSpPr/>
          <p:nvPr/>
        </p:nvSpPr>
        <p:spPr>
          <a:xfrm>
            <a:off x="312000" y="2380825"/>
            <a:ext cx="2673600" cy="1110900"/>
          </a:xfrm>
          <a:prstGeom prst="roundRect">
            <a:avLst>
              <a:gd fmla="val 6780" name="adj"/>
            </a:avLst>
          </a:prstGeom>
          <a:solidFill>
            <a:srgbClr val="FFFFFF"/>
          </a:solidFill>
          <a:ln cap="flat" cmpd="sng" w="13075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14"/>
          <p:cNvSpPr/>
          <p:nvPr/>
        </p:nvSpPr>
        <p:spPr>
          <a:xfrm>
            <a:off x="312000" y="2380825"/>
            <a:ext cx="2673600" cy="395400"/>
          </a:xfrm>
          <a:prstGeom prst="roundRect">
            <a:avLst>
              <a:gd fmla="val 19048" name="adj"/>
            </a:avLst>
          </a:prstGeom>
          <a:solidFill>
            <a:srgbClr val="13294B"/>
          </a:solidFill>
          <a:ln>
            <a:noFill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4"/>
          <p:cNvSpPr/>
          <p:nvPr/>
        </p:nvSpPr>
        <p:spPr>
          <a:xfrm>
            <a:off x="312000" y="2578531"/>
            <a:ext cx="2673600" cy="1977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14"/>
          <p:cNvSpPr txBox="1"/>
          <p:nvPr/>
        </p:nvSpPr>
        <p:spPr>
          <a:xfrm>
            <a:off x="462633" y="2380825"/>
            <a:ext cx="23913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84"/>
              <a:buFont typeface="Courier New"/>
              <a:buNone/>
            </a:pPr>
            <a:r>
              <a:rPr b="1" i="0" lang="en-US" sz="1184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plan_suscripcion</a:t>
            </a:r>
            <a:endParaRPr b="0" i="0" sz="118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4"/>
          <p:cNvSpPr txBox="1"/>
          <p:nvPr/>
        </p:nvSpPr>
        <p:spPr>
          <a:xfrm>
            <a:off x="462633" y="2832724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id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4"/>
          <p:cNvSpPr txBox="1"/>
          <p:nvPr/>
        </p:nvSpPr>
        <p:spPr>
          <a:xfrm>
            <a:off x="1648868" y="2832724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927"/>
              <a:buFont typeface="Calibri"/>
              <a:buNone/>
            </a:pPr>
            <a:r>
              <a:rPr b="1" i="0" lang="en-US" sz="927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PK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4"/>
          <p:cNvSpPr txBox="1"/>
          <p:nvPr/>
        </p:nvSpPr>
        <p:spPr>
          <a:xfrm>
            <a:off x="462633" y="3133990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nombre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4"/>
          <p:cNvSpPr txBox="1"/>
          <p:nvPr/>
        </p:nvSpPr>
        <p:spPr>
          <a:xfrm>
            <a:off x="1648868" y="3133990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27"/>
              <a:buFont typeface="Calibri"/>
              <a:buNone/>
            </a:pPr>
            <a:r>
              <a:rPr b="0" i="0" lang="en-US" sz="927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Estándar/Premium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4"/>
          <p:cNvSpPr/>
          <p:nvPr/>
        </p:nvSpPr>
        <p:spPr>
          <a:xfrm>
            <a:off x="3192855" y="2380825"/>
            <a:ext cx="2673600" cy="1713300"/>
          </a:xfrm>
          <a:prstGeom prst="roundRect">
            <a:avLst>
              <a:gd fmla="val 4396" name="adj"/>
            </a:avLst>
          </a:prstGeom>
          <a:solidFill>
            <a:srgbClr val="FFFFFF"/>
          </a:solidFill>
          <a:ln cap="flat" cmpd="sng" w="13075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14"/>
          <p:cNvSpPr/>
          <p:nvPr/>
        </p:nvSpPr>
        <p:spPr>
          <a:xfrm>
            <a:off x="3192855" y="2380825"/>
            <a:ext cx="2673600" cy="395400"/>
          </a:xfrm>
          <a:prstGeom prst="roundRect">
            <a:avLst>
              <a:gd fmla="val 19048" name="adj"/>
            </a:avLst>
          </a:prstGeom>
          <a:solidFill>
            <a:srgbClr val="13294B"/>
          </a:solidFill>
          <a:ln>
            <a:noFill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4"/>
          <p:cNvSpPr/>
          <p:nvPr/>
        </p:nvSpPr>
        <p:spPr>
          <a:xfrm>
            <a:off x="3192855" y="2578531"/>
            <a:ext cx="2673600" cy="1977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3343488" y="2380825"/>
            <a:ext cx="23913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84"/>
              <a:buFont typeface="Courier New"/>
              <a:buNone/>
            </a:pPr>
            <a:r>
              <a:rPr b="1" i="0" lang="en-US" sz="1184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suscripcion</a:t>
            </a:r>
            <a:endParaRPr b="0" i="0" sz="118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4"/>
          <p:cNvSpPr txBox="1"/>
          <p:nvPr/>
        </p:nvSpPr>
        <p:spPr>
          <a:xfrm>
            <a:off x="3343488" y="2832724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id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4"/>
          <p:cNvSpPr txBox="1"/>
          <p:nvPr/>
        </p:nvSpPr>
        <p:spPr>
          <a:xfrm>
            <a:off x="4529723" y="2832724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927"/>
              <a:buFont typeface="Calibri"/>
              <a:buNone/>
            </a:pPr>
            <a:r>
              <a:rPr b="1" i="0" lang="en-US" sz="927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PK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4"/>
          <p:cNvSpPr txBox="1"/>
          <p:nvPr/>
        </p:nvSpPr>
        <p:spPr>
          <a:xfrm>
            <a:off x="3343488" y="3133990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usuario_id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4"/>
          <p:cNvSpPr txBox="1"/>
          <p:nvPr/>
        </p:nvSpPr>
        <p:spPr>
          <a:xfrm>
            <a:off x="4529723" y="3133990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27"/>
              <a:buFont typeface="Calibri"/>
              <a:buNone/>
            </a:pPr>
            <a:r>
              <a:rPr b="0" i="0" lang="en-US" sz="927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FK → Usuarios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4"/>
          <p:cNvSpPr txBox="1"/>
          <p:nvPr/>
        </p:nvSpPr>
        <p:spPr>
          <a:xfrm>
            <a:off x="3343488" y="3435256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plan_id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4"/>
          <p:cNvSpPr txBox="1"/>
          <p:nvPr/>
        </p:nvSpPr>
        <p:spPr>
          <a:xfrm>
            <a:off x="4529723" y="3435256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27"/>
              <a:buFont typeface="Calibri"/>
              <a:buNone/>
            </a:pPr>
            <a:r>
              <a:rPr b="0" i="0" lang="en-US" sz="927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FK → plan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4"/>
          <p:cNvSpPr txBox="1"/>
          <p:nvPr/>
        </p:nvSpPr>
        <p:spPr>
          <a:xfrm>
            <a:off x="3343488" y="3736522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estado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4"/>
          <p:cNvSpPr txBox="1"/>
          <p:nvPr/>
        </p:nvSpPr>
        <p:spPr>
          <a:xfrm>
            <a:off x="4529723" y="3736522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27"/>
              <a:buFont typeface="Calibri"/>
              <a:buNone/>
            </a:pPr>
            <a:r>
              <a:rPr b="0" i="0" lang="en-US" sz="927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enum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4"/>
          <p:cNvSpPr/>
          <p:nvPr/>
        </p:nvSpPr>
        <p:spPr>
          <a:xfrm>
            <a:off x="6073710" y="2380825"/>
            <a:ext cx="2673600" cy="1713300"/>
          </a:xfrm>
          <a:prstGeom prst="roundRect">
            <a:avLst>
              <a:gd fmla="val 4396" name="adj"/>
            </a:avLst>
          </a:prstGeom>
          <a:solidFill>
            <a:srgbClr val="FFFFFF"/>
          </a:solidFill>
          <a:ln cap="flat" cmpd="sng" w="13075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4"/>
          <p:cNvSpPr/>
          <p:nvPr/>
        </p:nvSpPr>
        <p:spPr>
          <a:xfrm>
            <a:off x="6073710" y="2380825"/>
            <a:ext cx="2673600" cy="395400"/>
          </a:xfrm>
          <a:prstGeom prst="roundRect">
            <a:avLst>
              <a:gd fmla="val 19048" name="adj"/>
            </a:avLst>
          </a:prstGeom>
          <a:solidFill>
            <a:srgbClr val="13294B"/>
          </a:solidFill>
          <a:ln>
            <a:noFill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4"/>
          <p:cNvSpPr/>
          <p:nvPr/>
        </p:nvSpPr>
        <p:spPr>
          <a:xfrm>
            <a:off x="6073710" y="2578531"/>
            <a:ext cx="2673600" cy="1977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4"/>
          <p:cNvSpPr txBox="1"/>
          <p:nvPr/>
        </p:nvSpPr>
        <p:spPr>
          <a:xfrm>
            <a:off x="6224343" y="2380825"/>
            <a:ext cx="23913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84"/>
              <a:buFont typeface="Courier New"/>
              <a:buNone/>
            </a:pPr>
            <a:r>
              <a:rPr b="1" i="0" lang="en-US" sz="1184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venta</a:t>
            </a:r>
            <a:endParaRPr b="0" i="0" sz="118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4"/>
          <p:cNvSpPr txBox="1"/>
          <p:nvPr/>
        </p:nvSpPr>
        <p:spPr>
          <a:xfrm>
            <a:off x="6224343" y="2832724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id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4"/>
          <p:cNvSpPr txBox="1"/>
          <p:nvPr/>
        </p:nvSpPr>
        <p:spPr>
          <a:xfrm>
            <a:off x="7410578" y="2832724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927"/>
              <a:buFont typeface="Calibri"/>
              <a:buNone/>
            </a:pPr>
            <a:r>
              <a:rPr b="1" i="0" lang="en-US" sz="927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PK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4"/>
          <p:cNvSpPr txBox="1"/>
          <p:nvPr/>
        </p:nvSpPr>
        <p:spPr>
          <a:xfrm>
            <a:off x="6224343" y="3133990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suscripcion_id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4"/>
          <p:cNvSpPr txBox="1"/>
          <p:nvPr/>
        </p:nvSpPr>
        <p:spPr>
          <a:xfrm>
            <a:off x="7410578" y="3133990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27"/>
              <a:buFont typeface="Calibri"/>
              <a:buNone/>
            </a:pPr>
            <a:r>
              <a:rPr b="0" i="0" lang="en-US" sz="927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FK → suscripcion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4"/>
          <p:cNvSpPr txBox="1"/>
          <p:nvPr/>
        </p:nvSpPr>
        <p:spPr>
          <a:xfrm>
            <a:off x="6224343" y="3435256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monto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4"/>
          <p:cNvSpPr txBox="1"/>
          <p:nvPr/>
        </p:nvSpPr>
        <p:spPr>
          <a:xfrm>
            <a:off x="7410578" y="3435256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27"/>
              <a:buFont typeface="Calibri"/>
              <a:buNone/>
            </a:pPr>
            <a:r>
              <a:rPr b="0" i="0" lang="en-US" sz="927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numeric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4"/>
          <p:cNvSpPr txBox="1"/>
          <p:nvPr/>
        </p:nvSpPr>
        <p:spPr>
          <a:xfrm>
            <a:off x="6224343" y="3736522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fecha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4"/>
          <p:cNvSpPr txBox="1"/>
          <p:nvPr/>
        </p:nvSpPr>
        <p:spPr>
          <a:xfrm>
            <a:off x="7410578" y="3736522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27"/>
              <a:buFont typeface="Calibri"/>
              <a:buNone/>
            </a:pPr>
            <a:r>
              <a:rPr b="0" i="0" lang="en-US" sz="927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date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4"/>
          <p:cNvSpPr/>
          <p:nvPr/>
        </p:nvSpPr>
        <p:spPr>
          <a:xfrm>
            <a:off x="8954566" y="2380825"/>
            <a:ext cx="2673600" cy="1713300"/>
          </a:xfrm>
          <a:prstGeom prst="roundRect">
            <a:avLst>
              <a:gd fmla="val 4396" name="adj"/>
            </a:avLst>
          </a:prstGeom>
          <a:solidFill>
            <a:srgbClr val="FFFFFF"/>
          </a:solidFill>
          <a:ln cap="flat" cmpd="sng" w="13075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14"/>
          <p:cNvSpPr/>
          <p:nvPr/>
        </p:nvSpPr>
        <p:spPr>
          <a:xfrm>
            <a:off x="8954566" y="2380825"/>
            <a:ext cx="2673600" cy="395400"/>
          </a:xfrm>
          <a:prstGeom prst="roundRect">
            <a:avLst>
              <a:gd fmla="val 19048" name="adj"/>
            </a:avLst>
          </a:prstGeom>
          <a:solidFill>
            <a:srgbClr val="13294B"/>
          </a:solidFill>
          <a:ln>
            <a:noFill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8954566" y="2578531"/>
            <a:ext cx="2673600" cy="1977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4125" lIns="94125" spcFirstLastPara="1" rIns="94125" wrap="square" tIns="941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1"/>
              <a:buFont typeface="Arial"/>
              <a:buNone/>
            </a:pPr>
            <a:r>
              <a:t/>
            </a:r>
            <a:endParaRPr b="0" i="0" sz="14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4"/>
          <p:cNvSpPr txBox="1"/>
          <p:nvPr/>
        </p:nvSpPr>
        <p:spPr>
          <a:xfrm>
            <a:off x="9105198" y="2380825"/>
            <a:ext cx="23913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84"/>
              <a:buFont typeface="Courier New"/>
              <a:buNone/>
            </a:pPr>
            <a:r>
              <a:rPr b="1" i="0" lang="en-US" sz="1184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pago</a:t>
            </a:r>
            <a:endParaRPr b="0" i="0" sz="118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4"/>
          <p:cNvSpPr txBox="1"/>
          <p:nvPr/>
        </p:nvSpPr>
        <p:spPr>
          <a:xfrm>
            <a:off x="9105198" y="2832724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id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4"/>
          <p:cNvSpPr txBox="1"/>
          <p:nvPr/>
        </p:nvSpPr>
        <p:spPr>
          <a:xfrm>
            <a:off x="10291433" y="2832724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927"/>
              <a:buFont typeface="Calibri"/>
              <a:buNone/>
            </a:pPr>
            <a:r>
              <a:rPr b="1" i="0" lang="en-US" sz="927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PK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4"/>
          <p:cNvSpPr txBox="1"/>
          <p:nvPr/>
        </p:nvSpPr>
        <p:spPr>
          <a:xfrm>
            <a:off x="9105198" y="3133990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venta_id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4"/>
          <p:cNvSpPr txBox="1"/>
          <p:nvPr/>
        </p:nvSpPr>
        <p:spPr>
          <a:xfrm>
            <a:off x="10291433" y="3133990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27"/>
              <a:buFont typeface="Calibri"/>
              <a:buNone/>
            </a:pPr>
            <a:r>
              <a:rPr b="0" i="0" lang="en-US" sz="927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FK/UNIQUE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4"/>
          <p:cNvSpPr txBox="1"/>
          <p:nvPr/>
        </p:nvSpPr>
        <p:spPr>
          <a:xfrm>
            <a:off x="9105198" y="3435256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id_transaccion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4"/>
          <p:cNvSpPr txBox="1"/>
          <p:nvPr/>
        </p:nvSpPr>
        <p:spPr>
          <a:xfrm>
            <a:off x="10291433" y="3435256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27"/>
              <a:buFont typeface="Calibri"/>
              <a:buNone/>
            </a:pPr>
            <a:r>
              <a:rPr b="0" i="0" lang="en-US" sz="927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pasarela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4"/>
          <p:cNvSpPr txBox="1"/>
          <p:nvPr/>
        </p:nvSpPr>
        <p:spPr>
          <a:xfrm>
            <a:off x="9105198" y="3736522"/>
            <a:ext cx="13902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30"/>
              <a:buFont typeface="Courier New"/>
              <a:buNone/>
            </a:pPr>
            <a:r>
              <a:rPr b="0" i="0" lang="en-US" sz="103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estado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4"/>
          <p:cNvSpPr txBox="1"/>
          <p:nvPr/>
        </p:nvSpPr>
        <p:spPr>
          <a:xfrm>
            <a:off x="10291433" y="3736522"/>
            <a:ext cx="1132800" cy="30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50" lIns="94125" spcFirstLastPara="1" rIns="94125" wrap="square" tIns="470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27"/>
              <a:buFont typeface="Calibri"/>
              <a:buNone/>
            </a:pPr>
            <a:r>
              <a:rPr b="0" i="0" lang="en-US" sz="927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enum</a:t>
            </a:r>
            <a:endParaRPr b="0" i="0" sz="92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4"/>
          <p:cNvSpPr/>
          <p:nvPr/>
        </p:nvSpPr>
        <p:spPr>
          <a:xfrm>
            <a:off x="563878" y="4604003"/>
            <a:ext cx="11064300" cy="777300"/>
          </a:xfrm>
          <a:prstGeom prst="roundRect">
            <a:avLst>
              <a:gd fmla="val 9412" name="adj"/>
            </a:avLst>
          </a:prstGeom>
          <a:solidFill>
            <a:srgbClr val="F2E3C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4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5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MODELO DE DATOS · API NOTIFICACIONES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5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Un registro por cada evento importante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5"/>
          <p:cNvSpPr txBox="1"/>
          <p:nvPr/>
        </p:nvSpPr>
        <p:spPr>
          <a:xfrm>
            <a:off x="548640" y="1371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El microservicio más simple: una sola tabla, sin relaciones propias.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456390" y="2308860"/>
            <a:ext cx="5029200" cy="1664100"/>
          </a:xfrm>
          <a:prstGeom prst="roundRect">
            <a:avLst>
              <a:gd fmla="val 4396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5"/>
          <p:cNvSpPr/>
          <p:nvPr/>
        </p:nvSpPr>
        <p:spPr>
          <a:xfrm>
            <a:off x="456390" y="2308860"/>
            <a:ext cx="5029200" cy="384000"/>
          </a:xfrm>
          <a:prstGeom prst="roundRect">
            <a:avLst>
              <a:gd fmla="val 19048" name="adj"/>
            </a:avLst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15"/>
          <p:cNvSpPr/>
          <p:nvPr/>
        </p:nvSpPr>
        <p:spPr>
          <a:xfrm>
            <a:off x="456390" y="2500884"/>
            <a:ext cx="5029200" cy="192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15"/>
          <p:cNvSpPr txBox="1"/>
          <p:nvPr/>
        </p:nvSpPr>
        <p:spPr>
          <a:xfrm>
            <a:off x="602694" y="2308860"/>
            <a:ext cx="4755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ourier New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notificacion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5"/>
          <p:cNvSpPr txBox="1"/>
          <p:nvPr/>
        </p:nvSpPr>
        <p:spPr>
          <a:xfrm>
            <a:off x="602694" y="2747772"/>
            <a:ext cx="261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id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5"/>
          <p:cNvSpPr txBox="1"/>
          <p:nvPr/>
        </p:nvSpPr>
        <p:spPr>
          <a:xfrm>
            <a:off x="2970990" y="2747772"/>
            <a:ext cx="2267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PK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5"/>
          <p:cNvSpPr txBox="1"/>
          <p:nvPr/>
        </p:nvSpPr>
        <p:spPr>
          <a:xfrm>
            <a:off x="602694" y="3040380"/>
            <a:ext cx="261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usuario_id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5"/>
          <p:cNvSpPr txBox="1"/>
          <p:nvPr/>
        </p:nvSpPr>
        <p:spPr>
          <a:xfrm>
            <a:off x="2970990" y="3040380"/>
            <a:ext cx="2267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FK → Usuarios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5"/>
          <p:cNvSpPr txBox="1"/>
          <p:nvPr/>
        </p:nvSpPr>
        <p:spPr>
          <a:xfrm>
            <a:off x="602694" y="3332988"/>
            <a:ext cx="261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tipo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5"/>
          <p:cNvSpPr txBox="1"/>
          <p:nvPr/>
        </p:nvSpPr>
        <p:spPr>
          <a:xfrm>
            <a:off x="2970990" y="3332988"/>
            <a:ext cx="2267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enum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5"/>
          <p:cNvSpPr txBox="1"/>
          <p:nvPr/>
        </p:nvSpPr>
        <p:spPr>
          <a:xfrm>
            <a:off x="602694" y="3625596"/>
            <a:ext cx="2615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1A2333"/>
                </a:solidFill>
                <a:latin typeface="Courier New"/>
                <a:ea typeface="Courier New"/>
                <a:cs typeface="Courier New"/>
                <a:sym typeface="Courier New"/>
              </a:rPr>
              <a:t>canal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5"/>
          <p:cNvSpPr txBox="1"/>
          <p:nvPr/>
        </p:nvSpPr>
        <p:spPr>
          <a:xfrm>
            <a:off x="2970990" y="3625596"/>
            <a:ext cx="2267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email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5"/>
          <p:cNvSpPr txBox="1"/>
          <p:nvPr/>
        </p:nvSpPr>
        <p:spPr>
          <a:xfrm>
            <a:off x="5942790" y="23088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¿QUÉ DISPARA UNA NOTIFICACIÓN?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5"/>
          <p:cNvSpPr/>
          <p:nvPr/>
        </p:nvSpPr>
        <p:spPr>
          <a:xfrm>
            <a:off x="5942790" y="2720340"/>
            <a:ext cx="457200" cy="45720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filetext_white.png" id="467" name="Google Shape;4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57090" y="283464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15"/>
          <p:cNvSpPr txBox="1"/>
          <p:nvPr/>
        </p:nvSpPr>
        <p:spPr>
          <a:xfrm>
            <a:off x="6582870" y="2720340"/>
            <a:ext cx="4389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Licitación publicada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5"/>
          <p:cNvSpPr/>
          <p:nvPr/>
        </p:nvSpPr>
        <p:spPr>
          <a:xfrm>
            <a:off x="5942790" y="3406140"/>
            <a:ext cx="457200" cy="45720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470" name="Google Shape;47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34230" y="3497580"/>
            <a:ext cx="274321" cy="274321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5"/>
          <p:cNvSpPr txBox="1"/>
          <p:nvPr/>
        </p:nvSpPr>
        <p:spPr>
          <a:xfrm>
            <a:off x="6582870" y="3406140"/>
            <a:ext cx="4389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Postulación recibida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5"/>
          <p:cNvSpPr/>
          <p:nvPr/>
        </p:nvSpPr>
        <p:spPr>
          <a:xfrm>
            <a:off x="5942790" y="4091940"/>
            <a:ext cx="457200" cy="45720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reditcard_white.png" id="473" name="Google Shape;473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57090" y="420624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474" name="Google Shape;474;p15"/>
          <p:cNvSpPr txBox="1"/>
          <p:nvPr/>
        </p:nvSpPr>
        <p:spPr>
          <a:xfrm>
            <a:off x="6582870" y="4091940"/>
            <a:ext cx="4389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Pago confirmado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5"/>
          <p:cNvSpPr/>
          <p:nvPr/>
        </p:nvSpPr>
        <p:spPr>
          <a:xfrm>
            <a:off x="410640" y="5120660"/>
            <a:ext cx="11064300" cy="777300"/>
          </a:xfrm>
          <a:prstGeom prst="roundRect">
            <a:avLst>
              <a:gd fmla="val 9412" name="adj"/>
            </a:avLst>
          </a:prstGeom>
          <a:solidFill>
            <a:srgbClr val="F2E3C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5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16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ALCANCE DEL PROYECTO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6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Qué entra y qué no entra en el MVP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6"/>
          <p:cNvSpPr/>
          <p:nvPr/>
        </p:nvSpPr>
        <p:spPr>
          <a:xfrm>
            <a:off x="548640" y="1783080"/>
            <a:ext cx="5486400" cy="4114800"/>
          </a:xfrm>
          <a:prstGeom prst="roundRect">
            <a:avLst>
              <a:gd fmla="val 2222" name="adj"/>
            </a:avLst>
          </a:prstGeom>
          <a:solidFill>
            <a:srgbClr val="FFFFFF"/>
          </a:solidFill>
          <a:ln cap="flat" cmpd="sng" w="15225">
            <a:solidFill>
              <a:srgbClr val="1E7A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16"/>
          <p:cNvSpPr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E1F2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487" name="Google Shape;48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5830" y="216027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488" name="Google Shape;488;p16"/>
          <p:cNvSpPr txBox="1"/>
          <p:nvPr/>
        </p:nvSpPr>
        <p:spPr>
          <a:xfrm>
            <a:off x="1417320" y="2057400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7A3D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7A3D"/>
                </a:solidFill>
                <a:latin typeface="Calibri"/>
                <a:ea typeface="Calibri"/>
                <a:cs typeface="Calibri"/>
                <a:sym typeface="Calibri"/>
              </a:rPr>
              <a:t>Dentro del alcance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6"/>
          <p:cNvSpPr txBox="1"/>
          <p:nvPr/>
        </p:nvSpPr>
        <p:spPr>
          <a:xfrm>
            <a:off x="868680" y="2697480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•  Registro y autenticación (3 perfiles)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6"/>
          <p:cNvSpPr txBox="1"/>
          <p:nvPr/>
        </p:nvSpPr>
        <p:spPr>
          <a:xfrm>
            <a:off x="868680" y="3108960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•  Publicación y administración de licitaciones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6"/>
          <p:cNvSpPr txBox="1"/>
          <p:nvPr/>
        </p:nvSpPr>
        <p:spPr>
          <a:xfrm>
            <a:off x="868680" y="3520440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•  Búsqueda y postulación de Pymes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6"/>
          <p:cNvSpPr txBox="1"/>
          <p:nvPr/>
        </p:nvSpPr>
        <p:spPr>
          <a:xfrm>
            <a:off x="868680" y="3931920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•  Planes de suscripción Estándar y Premium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6"/>
          <p:cNvSpPr txBox="1"/>
          <p:nvPr/>
        </p:nvSpPr>
        <p:spPr>
          <a:xfrm>
            <a:off x="868680" y="4343400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•  Integración con pasarela de pago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6"/>
          <p:cNvSpPr txBox="1"/>
          <p:nvPr/>
        </p:nvSpPr>
        <p:spPr>
          <a:xfrm>
            <a:off x="868680" y="4754880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•  Panel de administración general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 txBox="1"/>
          <p:nvPr/>
        </p:nvSpPr>
        <p:spPr>
          <a:xfrm>
            <a:off x="868680" y="5166360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•  LicitAsist: asistente con IA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6"/>
          <p:cNvSpPr/>
          <p:nvPr/>
        </p:nvSpPr>
        <p:spPr>
          <a:xfrm>
            <a:off x="6263640" y="1783080"/>
            <a:ext cx="5349240" cy="4114800"/>
          </a:xfrm>
          <a:prstGeom prst="roundRect">
            <a:avLst>
              <a:gd fmla="val 2222" name="adj"/>
            </a:avLst>
          </a:prstGeom>
          <a:solidFill>
            <a:srgbClr val="FFFFFF"/>
          </a:solidFill>
          <a:ln cap="flat" cmpd="sng" w="15225">
            <a:solidFill>
              <a:srgbClr val="A32D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16"/>
          <p:cNvSpPr/>
          <p:nvPr/>
        </p:nvSpPr>
        <p:spPr>
          <a:xfrm>
            <a:off x="6537960" y="2057400"/>
            <a:ext cx="457200" cy="457200"/>
          </a:xfrm>
          <a:prstGeom prst="ellipse">
            <a:avLst/>
          </a:prstGeom>
          <a:solidFill>
            <a:srgbClr val="FBE7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x_red.png" id="498" name="Google Shape;49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40830" y="2160270"/>
            <a:ext cx="25146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16"/>
          <p:cNvSpPr txBox="1"/>
          <p:nvPr/>
        </p:nvSpPr>
        <p:spPr>
          <a:xfrm>
            <a:off x="7132320" y="2057400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32D2D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A32D2D"/>
                </a:solidFill>
                <a:latin typeface="Calibri"/>
                <a:ea typeface="Calibri"/>
                <a:cs typeface="Calibri"/>
                <a:sym typeface="Calibri"/>
              </a:rPr>
              <a:t>Fuera del alcance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6"/>
          <p:cNvSpPr txBox="1"/>
          <p:nvPr/>
        </p:nvSpPr>
        <p:spPr>
          <a:xfrm>
            <a:off x="6583680" y="269748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•  Obtención automática de licitaciones públicas externas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6"/>
          <p:cNvSpPr txBox="1"/>
          <p:nvPr/>
        </p:nvSpPr>
        <p:spPr>
          <a:xfrm>
            <a:off x="6583680" y="310896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•  Aplicación móvil nativa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6"/>
          <p:cNvSpPr txBox="1"/>
          <p:nvPr/>
        </p:nvSpPr>
        <p:spPr>
          <a:xfrm>
            <a:off x="6583680" y="352044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•  Motor propio de recomendación con machine learning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6"/>
          <p:cNvSpPr txBox="1"/>
          <p:nvPr/>
        </p:nvSpPr>
        <p:spPr>
          <a:xfrm>
            <a:off x="6583680" y="393192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•  Integración con ERP externos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6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17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7"/>
          <p:cNvSpPr txBox="1"/>
          <p:nvPr/>
        </p:nvSpPr>
        <p:spPr>
          <a:xfrm>
            <a:off x="548640" y="676656"/>
            <a:ext cx="9601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A2333"/>
                </a:solidFill>
                <a:latin typeface="Cambria"/>
                <a:ea typeface="Cambria"/>
                <a:cs typeface="Cambria"/>
                <a:sym typeface="Cambria"/>
              </a:rPr>
              <a:t>Scrum — 6 sprints de 2 semanas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699515" y="1362450"/>
            <a:ext cx="10515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350"/>
              <a:buFont typeface="Calibri"/>
              <a:buNone/>
            </a:pPr>
            <a:r>
              <a:rPr b="0" i="1" lang="en-US" sz="13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Aproximadamente 4 meses, con un entregable funcional al cierre de cada sprint.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7"/>
          <p:cNvSpPr/>
          <p:nvPr/>
        </p:nvSpPr>
        <p:spPr>
          <a:xfrm>
            <a:off x="548640" y="2103120"/>
            <a:ext cx="1271016" cy="1737360"/>
          </a:xfrm>
          <a:prstGeom prst="roundRect">
            <a:avLst>
              <a:gd fmla="val 5755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17"/>
          <p:cNvSpPr/>
          <p:nvPr/>
        </p:nvSpPr>
        <p:spPr>
          <a:xfrm>
            <a:off x="946404" y="2286000"/>
            <a:ext cx="475488" cy="475488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17"/>
          <p:cNvSpPr txBox="1"/>
          <p:nvPr/>
        </p:nvSpPr>
        <p:spPr>
          <a:xfrm>
            <a:off x="946404" y="2286000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7"/>
          <p:cNvSpPr txBox="1"/>
          <p:nvPr/>
        </p:nvSpPr>
        <p:spPr>
          <a:xfrm>
            <a:off x="640080" y="2880360"/>
            <a:ext cx="1088136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Análisis diseño y arquitectura inicial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7"/>
          <p:cNvSpPr/>
          <p:nvPr/>
        </p:nvSpPr>
        <p:spPr>
          <a:xfrm>
            <a:off x="1947672" y="2103120"/>
            <a:ext cx="1271016" cy="1737360"/>
          </a:xfrm>
          <a:prstGeom prst="roundRect">
            <a:avLst>
              <a:gd fmla="val 5755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17"/>
          <p:cNvSpPr/>
          <p:nvPr/>
        </p:nvSpPr>
        <p:spPr>
          <a:xfrm>
            <a:off x="2345436" y="2286000"/>
            <a:ext cx="475488" cy="475488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17"/>
          <p:cNvSpPr txBox="1"/>
          <p:nvPr/>
        </p:nvSpPr>
        <p:spPr>
          <a:xfrm>
            <a:off x="2345436" y="2286000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7"/>
          <p:cNvSpPr txBox="1"/>
          <p:nvPr/>
        </p:nvSpPr>
        <p:spPr>
          <a:xfrm>
            <a:off x="2039112" y="2880360"/>
            <a:ext cx="1088136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Usuarios y registro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7"/>
          <p:cNvSpPr/>
          <p:nvPr/>
        </p:nvSpPr>
        <p:spPr>
          <a:xfrm>
            <a:off x="3346704" y="2103120"/>
            <a:ext cx="1271016" cy="1737360"/>
          </a:xfrm>
          <a:prstGeom prst="roundRect">
            <a:avLst>
              <a:gd fmla="val 5755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17"/>
          <p:cNvSpPr/>
          <p:nvPr/>
        </p:nvSpPr>
        <p:spPr>
          <a:xfrm>
            <a:off x="3744468" y="2286000"/>
            <a:ext cx="475488" cy="475488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17"/>
          <p:cNvSpPr txBox="1"/>
          <p:nvPr/>
        </p:nvSpPr>
        <p:spPr>
          <a:xfrm>
            <a:off x="3744468" y="2286000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7"/>
          <p:cNvSpPr txBox="1"/>
          <p:nvPr/>
        </p:nvSpPr>
        <p:spPr>
          <a:xfrm>
            <a:off x="3438144" y="2880360"/>
            <a:ext cx="1088136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Licitaciones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7"/>
          <p:cNvSpPr/>
          <p:nvPr/>
        </p:nvSpPr>
        <p:spPr>
          <a:xfrm>
            <a:off x="4745736" y="2103120"/>
            <a:ext cx="1271016" cy="1737360"/>
          </a:xfrm>
          <a:prstGeom prst="roundRect">
            <a:avLst>
              <a:gd fmla="val 5755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17"/>
          <p:cNvSpPr/>
          <p:nvPr/>
        </p:nvSpPr>
        <p:spPr>
          <a:xfrm>
            <a:off x="5143500" y="2286000"/>
            <a:ext cx="475488" cy="475488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17"/>
          <p:cNvSpPr txBox="1"/>
          <p:nvPr/>
        </p:nvSpPr>
        <p:spPr>
          <a:xfrm>
            <a:off x="5143500" y="2286000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7"/>
          <p:cNvSpPr txBox="1"/>
          <p:nvPr/>
        </p:nvSpPr>
        <p:spPr>
          <a:xfrm>
            <a:off x="4805172" y="2948940"/>
            <a:ext cx="1088136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Postulaciones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 y seleccione</a:t>
            </a:r>
            <a:r>
              <a:rPr b="0" i="0" lang="en-US" sz="1050" u="none" cap="none" strike="noStrik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endParaRPr b="0" i="0" sz="1050" u="none" cap="none" strike="noStrik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7"/>
          <p:cNvSpPr/>
          <p:nvPr/>
        </p:nvSpPr>
        <p:spPr>
          <a:xfrm>
            <a:off x="6144768" y="2103120"/>
            <a:ext cx="1271016" cy="1737360"/>
          </a:xfrm>
          <a:prstGeom prst="roundRect">
            <a:avLst>
              <a:gd fmla="val 5755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17"/>
          <p:cNvSpPr/>
          <p:nvPr/>
        </p:nvSpPr>
        <p:spPr>
          <a:xfrm>
            <a:off x="6542532" y="2286000"/>
            <a:ext cx="475488" cy="475488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17"/>
          <p:cNvSpPr txBox="1"/>
          <p:nvPr/>
        </p:nvSpPr>
        <p:spPr>
          <a:xfrm>
            <a:off x="6542532" y="2286000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7"/>
          <p:cNvSpPr txBox="1"/>
          <p:nvPr/>
        </p:nvSpPr>
        <p:spPr>
          <a:xfrm>
            <a:off x="6236208" y="2935224"/>
            <a:ext cx="1088136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50"/>
              <a:buFont typeface="Calibri"/>
              <a:buNone/>
            </a:pPr>
            <a:r>
              <a:rPr b="1" lang="en-US" sz="1050" u="sng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Módulo</a:t>
            </a:r>
            <a:r>
              <a:rPr b="1" lang="en-US" sz="1050" u="sng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 Administrador y Estado de postulaciones</a:t>
            </a:r>
            <a:endParaRPr b="0" i="0" sz="105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7"/>
          <p:cNvSpPr/>
          <p:nvPr/>
        </p:nvSpPr>
        <p:spPr>
          <a:xfrm>
            <a:off x="7543800" y="2103120"/>
            <a:ext cx="1271016" cy="1737360"/>
          </a:xfrm>
          <a:prstGeom prst="roundRect">
            <a:avLst>
              <a:gd fmla="val 5755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7"/>
          <p:cNvSpPr/>
          <p:nvPr/>
        </p:nvSpPr>
        <p:spPr>
          <a:xfrm>
            <a:off x="7941564" y="2286000"/>
            <a:ext cx="475488" cy="475488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7"/>
          <p:cNvSpPr txBox="1"/>
          <p:nvPr/>
        </p:nvSpPr>
        <p:spPr>
          <a:xfrm>
            <a:off x="7941575" y="2286000"/>
            <a:ext cx="4755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7"/>
          <p:cNvSpPr/>
          <p:nvPr/>
        </p:nvSpPr>
        <p:spPr>
          <a:xfrm>
            <a:off x="548640" y="4160520"/>
            <a:ext cx="11064240" cy="1554480"/>
          </a:xfrm>
          <a:prstGeom prst="roundRect">
            <a:avLst>
              <a:gd fmla="val 4706" name="adj"/>
            </a:avLst>
          </a:prstGeom>
          <a:solidFill>
            <a:srgbClr val="F2E3C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17"/>
          <p:cNvSpPr txBox="1"/>
          <p:nvPr/>
        </p:nvSpPr>
        <p:spPr>
          <a:xfrm>
            <a:off x="822960" y="4315968"/>
            <a:ext cx="10607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Facilitadores:  </a:t>
            </a: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stack tecnológico definido desde el inicio, 100% herramientas gratuitas para el desarrollo.</a:t>
            </a:r>
            <a:b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Obstaculizadores:  </a:t>
            </a:r>
            <a:r>
              <a:rPr lang="en-US" sz="1250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b="0" i="0" lang="en-US" sz="1250" u="none" cap="none" strike="noStrike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ependencia de servicios externos con nivel gratuito limitado (IA y pasarela de pago) y coordinación entre </a:t>
            </a:r>
            <a:r>
              <a:rPr lang="en-US" sz="1250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4 APis internas y 2 Apis externas.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LicitaWatch — Plataforma privada de gestión de licitaciones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7"/>
          <p:cNvSpPr txBox="1"/>
          <p:nvPr/>
        </p:nvSpPr>
        <p:spPr>
          <a:xfrm>
            <a:off x="11430000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7"/>
          <p:cNvSpPr txBox="1"/>
          <p:nvPr/>
        </p:nvSpPr>
        <p:spPr>
          <a:xfrm>
            <a:off x="9528493" y="2286000"/>
            <a:ext cx="4755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7"/>
          <p:cNvSpPr txBox="1"/>
          <p:nvPr/>
        </p:nvSpPr>
        <p:spPr>
          <a:xfrm>
            <a:off x="9367582" y="2413944"/>
            <a:ext cx="1111418" cy="3475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7"/>
          <p:cNvSpPr txBox="1"/>
          <p:nvPr/>
        </p:nvSpPr>
        <p:spPr>
          <a:xfrm>
            <a:off x="10954500" y="2286000"/>
            <a:ext cx="4755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7"/>
          <p:cNvSpPr/>
          <p:nvPr/>
        </p:nvSpPr>
        <p:spPr>
          <a:xfrm>
            <a:off x="9045921" y="2103120"/>
            <a:ext cx="1271016" cy="1737360"/>
          </a:xfrm>
          <a:prstGeom prst="roundRect">
            <a:avLst>
              <a:gd fmla="val 5755" name="adj"/>
            </a:avLst>
          </a:prstGeom>
          <a:solidFill>
            <a:srgbClr val="FFFFFF"/>
          </a:solidFill>
          <a:ln cap="flat" cmpd="sng" w="12700">
            <a:solidFill>
              <a:srgbClr val="D8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17"/>
          <p:cNvSpPr/>
          <p:nvPr/>
        </p:nvSpPr>
        <p:spPr>
          <a:xfrm>
            <a:off x="9443685" y="2286000"/>
            <a:ext cx="475488" cy="475488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7"/>
          <p:cNvSpPr txBox="1"/>
          <p:nvPr/>
        </p:nvSpPr>
        <p:spPr>
          <a:xfrm>
            <a:off x="9443673" y="2276245"/>
            <a:ext cx="4755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7"/>
          <p:cNvSpPr txBox="1"/>
          <p:nvPr/>
        </p:nvSpPr>
        <p:spPr>
          <a:xfrm>
            <a:off x="7641096" y="2880312"/>
            <a:ext cx="10881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50"/>
              <a:buFont typeface="Calibri"/>
              <a:buNone/>
            </a:pPr>
            <a:r>
              <a:rPr b="1" lang="en-US" sz="1050" u="sng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Pasarela de Pago Externa</a:t>
            </a:r>
            <a:endParaRPr b="0" i="0" sz="105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7"/>
          <p:cNvSpPr txBox="1"/>
          <p:nvPr/>
        </p:nvSpPr>
        <p:spPr>
          <a:xfrm>
            <a:off x="9222208" y="2880299"/>
            <a:ext cx="10881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2333"/>
              </a:buClr>
              <a:buSzPts val="1050"/>
              <a:buFont typeface="Calibri"/>
              <a:buNone/>
            </a:pPr>
            <a:r>
              <a:rPr b="1" lang="en-US" sz="1050" u="sng">
                <a:solidFill>
                  <a:srgbClr val="1A2333"/>
                </a:solidFill>
                <a:latin typeface="Calibri"/>
                <a:ea typeface="Calibri"/>
                <a:cs typeface="Calibri"/>
                <a:sym typeface="Calibri"/>
              </a:rPr>
              <a:t>LicitAsist (IA) + Notificaciones </a:t>
            </a:r>
            <a:endParaRPr b="0" i="0" sz="105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294B"/>
        </a:solidFill>
      </p:bgPr>
    </p:bg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18"/>
          <p:cNvSpPr/>
          <p:nvPr/>
        </p:nvSpPr>
        <p:spPr>
          <a:xfrm>
            <a:off x="-1371600" y="-1463040"/>
            <a:ext cx="4206240" cy="4206240"/>
          </a:xfrm>
          <a:prstGeom prst="ellipse">
            <a:avLst/>
          </a:prstGeom>
          <a:solidFill>
            <a:srgbClr val="0B1A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18"/>
          <p:cNvSpPr/>
          <p:nvPr/>
        </p:nvSpPr>
        <p:spPr>
          <a:xfrm>
            <a:off x="10241280" y="3931920"/>
            <a:ext cx="3657600" cy="3657600"/>
          </a:xfrm>
          <a:prstGeom prst="ellipse">
            <a:avLst/>
          </a:prstGeom>
          <a:solidFill>
            <a:srgbClr val="0B1A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18"/>
          <p:cNvSpPr/>
          <p:nvPr/>
        </p:nvSpPr>
        <p:spPr>
          <a:xfrm>
            <a:off x="822960" y="1234440"/>
            <a:ext cx="777240" cy="777240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award_gold.png" id="557" name="Google Shape;55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7270" y="1428750"/>
            <a:ext cx="388620" cy="388620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p18"/>
          <p:cNvSpPr txBox="1"/>
          <p:nvPr/>
        </p:nvSpPr>
        <p:spPr>
          <a:xfrm>
            <a:off x="822960" y="21488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24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4A24C"/>
                </a:solidFill>
                <a:latin typeface="Calibri"/>
                <a:ea typeface="Calibri"/>
                <a:cs typeface="Calibri"/>
                <a:sym typeface="Calibri"/>
              </a:rPr>
              <a:t>RESULTADO ESPERADO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8"/>
          <p:cNvSpPr txBox="1"/>
          <p:nvPr/>
        </p:nvSpPr>
        <p:spPr>
          <a:xfrm>
            <a:off x="822960" y="2542032"/>
            <a:ext cx="9601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Un sistema privado, propio y sostenible.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8"/>
          <p:cNvSpPr txBox="1"/>
          <p:nvPr/>
        </p:nvSpPr>
        <p:spPr>
          <a:xfrm>
            <a:off x="822960" y="333756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7D2E2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7D2E2"/>
                </a:solidFill>
                <a:latin typeface="Calibri"/>
                <a:ea typeface="Calibri"/>
                <a:cs typeface="Calibri"/>
                <a:sym typeface="Calibri"/>
              </a:rPr>
              <a:t>LicitaWatch deja de depender de portales externos: los Licitadores publican, las Pymes postulan, y los planes de suscripción financian la operación.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8"/>
          <p:cNvSpPr/>
          <p:nvPr/>
        </p:nvSpPr>
        <p:spPr>
          <a:xfrm>
            <a:off x="822960" y="4160520"/>
            <a:ext cx="310896" cy="310896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562" name="Google Shape;56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139" y="4222699"/>
            <a:ext cx="186538" cy="186538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280160" y="4160520"/>
            <a:ext cx="5486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Arquitectura de microservicios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8"/>
          <p:cNvSpPr/>
          <p:nvPr/>
        </p:nvSpPr>
        <p:spPr>
          <a:xfrm>
            <a:off x="822960" y="4663440"/>
            <a:ext cx="310896" cy="310896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565" name="Google Shape;565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139" y="4725619"/>
            <a:ext cx="186538" cy="186538"/>
          </a:xfrm>
          <a:prstGeom prst="rect">
            <a:avLst/>
          </a:prstGeom>
          <a:noFill/>
          <a:ln>
            <a:noFill/>
          </a:ln>
        </p:spPr>
      </p:pic>
      <p:sp>
        <p:nvSpPr>
          <p:cNvPr id="566" name="Google Shape;566;p18"/>
          <p:cNvSpPr txBox="1"/>
          <p:nvPr/>
        </p:nvSpPr>
        <p:spPr>
          <a:xfrm>
            <a:off x="1280160" y="4663440"/>
            <a:ext cx="5486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 de negocio propio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8"/>
          <p:cNvSpPr/>
          <p:nvPr/>
        </p:nvSpPr>
        <p:spPr>
          <a:xfrm>
            <a:off x="822960" y="5166360"/>
            <a:ext cx="310896" cy="310896"/>
          </a:xfrm>
          <a:prstGeom prst="ellipse">
            <a:avLst/>
          </a:prstGeom>
          <a:solidFill>
            <a:srgbClr val="2436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home/claude/licitawatch-deck/icons/check_green.png" id="568" name="Google Shape;56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139" y="5228539"/>
            <a:ext cx="186538" cy="186538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p18"/>
          <p:cNvSpPr txBox="1"/>
          <p:nvPr/>
        </p:nvSpPr>
        <p:spPr>
          <a:xfrm>
            <a:off x="1280160" y="5166360"/>
            <a:ext cx="5486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LicitAsist · IA integrada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8"/>
          <p:cNvSpPr txBox="1"/>
          <p:nvPr/>
        </p:nvSpPr>
        <p:spPr>
          <a:xfrm>
            <a:off x="822960" y="594360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FA3BD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8FA3BD"/>
                </a:solidFill>
                <a:latin typeface="Calibri"/>
                <a:ea typeface="Calibri"/>
                <a:cs typeface="Calibri"/>
                <a:sym typeface="Calibri"/>
              </a:rPr>
              <a:t>Gracias — preguntas y comentarios son bienvenidos.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2026-09-23T15:29:00Z</dcterms:created>
  <dc:creator>PptxGenJS</dc:creator>
</cp:coreProperties>
</file>